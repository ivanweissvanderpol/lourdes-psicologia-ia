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8288000" cy="10287000"/>
  <p:notesSz cx="6858000" cy="9144000"/>
  <p:embeddedFontLst>
    <p:embeddedFont>
      <p:font typeface="Arial Black" panose="020B0604020202020204" pitchFamily="34" charset="0"/>
      <p:bold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alibri Light" panose="020F0302020204030204" pitchFamily="34" charset="0"/>
      <p:regular r:id="rId11"/>
      <p:italic r:id="rId12"/>
    </p:embeddedFon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Cloud" panose="02000000000000000000" pitchFamily="2" charset="0"/>
      <p:regular r:id="rId17"/>
    </p:embeddedFont>
    <p:embeddedFont>
      <p:font typeface="Peace Sans" panose="02000505040000020004" pitchFamily="2" charset="7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9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404155-A12D-42E8-93F9-F69D3CCA7322}" type="datetimeFigureOut">
              <a:rPr lang="en-US" smtClean="0"/>
              <a:t>6/24/25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A155B8-FFDE-48E2-AC50-9CE2C1381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72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B8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92104" y="5776785"/>
            <a:ext cx="7225786" cy="6963030"/>
          </a:xfrm>
          <a:custGeom>
            <a:avLst/>
            <a:gdLst/>
            <a:ahLst/>
            <a:cxnLst/>
            <a:rect l="l" t="t" r="r" b="b"/>
            <a:pathLst>
              <a:path w="7225786" h="6963030">
                <a:moveTo>
                  <a:pt x="0" y="0"/>
                </a:moveTo>
                <a:lnTo>
                  <a:pt x="7225786" y="0"/>
                </a:lnTo>
                <a:lnTo>
                  <a:pt x="7225786" y="6963030"/>
                </a:lnTo>
                <a:lnTo>
                  <a:pt x="0" y="6963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754318" y="5776785"/>
            <a:ext cx="7225786" cy="6963030"/>
          </a:xfrm>
          <a:custGeom>
            <a:avLst/>
            <a:gdLst/>
            <a:ahLst/>
            <a:cxnLst/>
            <a:rect l="l" t="t" r="r" b="b"/>
            <a:pathLst>
              <a:path w="7225786" h="6963030">
                <a:moveTo>
                  <a:pt x="0" y="0"/>
                </a:moveTo>
                <a:lnTo>
                  <a:pt x="7225786" y="0"/>
                </a:lnTo>
                <a:lnTo>
                  <a:pt x="7225786" y="6963030"/>
                </a:lnTo>
                <a:lnTo>
                  <a:pt x="0" y="6963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64678" y="789607"/>
            <a:ext cx="15558645" cy="2501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70"/>
              </a:lnSpc>
              <a:spcBef>
                <a:spcPct val="0"/>
              </a:spcBef>
            </a:pPr>
            <a:r>
              <a:rPr lang="en-US" sz="9028" u="none" strike="noStrike" dirty="0">
                <a:solidFill>
                  <a:schemeClr val="bg1"/>
                </a:solidFill>
                <a:latin typeface="Peace Sans"/>
                <a:ea typeface="Peace Sans"/>
                <a:cs typeface="Peace Sans"/>
                <a:sym typeface="Peace Sans"/>
              </a:rPr>
              <a:t>Desarrollo Interpersonal y Grupal </a:t>
            </a:r>
            <a:r>
              <a:rPr lang="en-US" sz="9028" dirty="0">
                <a:solidFill>
                  <a:schemeClr val="bg1"/>
                </a:solidFill>
                <a:latin typeface="Peace Sans"/>
                <a:ea typeface="Peace Sans"/>
                <a:cs typeface="Peace Sans"/>
                <a:sym typeface="Peace Sans"/>
              </a:rPr>
              <a:t>I</a:t>
            </a:r>
            <a:endParaRPr lang="en-US" sz="9028" u="none" strike="noStrike" dirty="0">
              <a:solidFill>
                <a:schemeClr val="bg1"/>
              </a:solidFill>
              <a:latin typeface="Peace Sans"/>
              <a:ea typeface="Peace Sans"/>
              <a:cs typeface="Peace Sans"/>
              <a:sym typeface="Peace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2905576" y="3882421"/>
            <a:ext cx="12476848" cy="6782868"/>
          </a:xfrm>
          <a:custGeom>
            <a:avLst/>
            <a:gdLst/>
            <a:ahLst/>
            <a:cxnLst/>
            <a:rect l="l" t="t" r="r" b="b"/>
            <a:pathLst>
              <a:path w="12476848" h="6782868">
                <a:moveTo>
                  <a:pt x="0" y="0"/>
                </a:moveTo>
                <a:lnTo>
                  <a:pt x="12476848" y="0"/>
                </a:lnTo>
                <a:lnTo>
                  <a:pt x="12476848" y="6782869"/>
                </a:lnTo>
                <a:lnTo>
                  <a:pt x="0" y="6782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942020" y="4505139"/>
            <a:ext cx="3440979" cy="641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307"/>
              </a:lnSpc>
              <a:spcBef>
                <a:spcPct val="0"/>
              </a:spcBef>
            </a:pPr>
            <a:r>
              <a:rPr lang="en-US" sz="3424" b="1" dirty="0">
                <a:solidFill>
                  <a:schemeClr val="bg1"/>
                </a:solidFill>
                <a:latin typeface="Cloud"/>
                <a:ea typeface="Cloud"/>
                <a:cs typeface="Cloud"/>
                <a:sym typeface="Cloud"/>
              </a:rPr>
              <a:t>#PsicoUna-2025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B8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83534" y="3254703"/>
            <a:ext cx="5520931" cy="7666079"/>
            <a:chOff x="0" y="0"/>
            <a:chExt cx="1454072" cy="2019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4072" cy="2019050"/>
            </a:xfrm>
            <a:custGeom>
              <a:avLst/>
              <a:gdLst/>
              <a:ahLst/>
              <a:cxnLst/>
              <a:rect l="l" t="t" r="r" b="b"/>
              <a:pathLst>
                <a:path w="1454072" h="2019050">
                  <a:moveTo>
                    <a:pt x="51885" y="0"/>
                  </a:moveTo>
                  <a:lnTo>
                    <a:pt x="1402188" y="0"/>
                  </a:lnTo>
                  <a:cubicBezTo>
                    <a:pt x="1430843" y="0"/>
                    <a:pt x="1454072" y="23230"/>
                    <a:pt x="1454072" y="51885"/>
                  </a:cubicBezTo>
                  <a:lnTo>
                    <a:pt x="1454072" y="1967165"/>
                  </a:lnTo>
                  <a:cubicBezTo>
                    <a:pt x="1454072" y="1980926"/>
                    <a:pt x="1448606" y="1994123"/>
                    <a:pt x="1438876" y="2003853"/>
                  </a:cubicBezTo>
                  <a:cubicBezTo>
                    <a:pt x="1429146" y="2013583"/>
                    <a:pt x="1415949" y="2019050"/>
                    <a:pt x="1402188" y="2019050"/>
                  </a:cubicBezTo>
                  <a:lnTo>
                    <a:pt x="51885" y="2019050"/>
                  </a:lnTo>
                  <a:cubicBezTo>
                    <a:pt x="38124" y="2019050"/>
                    <a:pt x="24927" y="2013583"/>
                    <a:pt x="15197" y="2003853"/>
                  </a:cubicBezTo>
                  <a:cubicBezTo>
                    <a:pt x="5466" y="1994123"/>
                    <a:pt x="0" y="1980926"/>
                    <a:pt x="0" y="1967165"/>
                  </a:cubicBezTo>
                  <a:lnTo>
                    <a:pt x="0" y="51885"/>
                  </a:lnTo>
                  <a:cubicBezTo>
                    <a:pt x="0" y="38124"/>
                    <a:pt x="5466" y="24927"/>
                    <a:pt x="15197" y="15197"/>
                  </a:cubicBezTo>
                  <a:cubicBezTo>
                    <a:pt x="24927" y="5466"/>
                    <a:pt x="38124" y="0"/>
                    <a:pt x="51885" y="0"/>
                  </a:cubicBezTo>
                  <a:close/>
                </a:path>
              </a:pathLst>
            </a:custGeom>
            <a:solidFill>
              <a:srgbClr val="EAEAE3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454072" cy="20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8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410393" y="3254703"/>
            <a:ext cx="5520931" cy="7666079"/>
            <a:chOff x="0" y="0"/>
            <a:chExt cx="1454072" cy="20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54072" cy="2019050"/>
            </a:xfrm>
            <a:custGeom>
              <a:avLst/>
              <a:gdLst/>
              <a:ahLst/>
              <a:cxnLst/>
              <a:rect l="l" t="t" r="r" b="b"/>
              <a:pathLst>
                <a:path w="1454072" h="2019050">
                  <a:moveTo>
                    <a:pt x="51885" y="0"/>
                  </a:moveTo>
                  <a:lnTo>
                    <a:pt x="1402188" y="0"/>
                  </a:lnTo>
                  <a:cubicBezTo>
                    <a:pt x="1430843" y="0"/>
                    <a:pt x="1454072" y="23230"/>
                    <a:pt x="1454072" y="51885"/>
                  </a:cubicBezTo>
                  <a:lnTo>
                    <a:pt x="1454072" y="1967165"/>
                  </a:lnTo>
                  <a:cubicBezTo>
                    <a:pt x="1454072" y="1980926"/>
                    <a:pt x="1448606" y="1994123"/>
                    <a:pt x="1438876" y="2003853"/>
                  </a:cubicBezTo>
                  <a:cubicBezTo>
                    <a:pt x="1429146" y="2013583"/>
                    <a:pt x="1415949" y="2019050"/>
                    <a:pt x="1402188" y="2019050"/>
                  </a:cubicBezTo>
                  <a:lnTo>
                    <a:pt x="51885" y="2019050"/>
                  </a:lnTo>
                  <a:cubicBezTo>
                    <a:pt x="38124" y="2019050"/>
                    <a:pt x="24927" y="2013583"/>
                    <a:pt x="15197" y="2003853"/>
                  </a:cubicBezTo>
                  <a:cubicBezTo>
                    <a:pt x="5466" y="1994123"/>
                    <a:pt x="0" y="1980926"/>
                    <a:pt x="0" y="1967165"/>
                  </a:cubicBezTo>
                  <a:lnTo>
                    <a:pt x="0" y="51885"/>
                  </a:lnTo>
                  <a:cubicBezTo>
                    <a:pt x="0" y="38124"/>
                    <a:pt x="5466" y="24927"/>
                    <a:pt x="15197" y="15197"/>
                  </a:cubicBezTo>
                  <a:cubicBezTo>
                    <a:pt x="24927" y="5466"/>
                    <a:pt x="38124" y="0"/>
                    <a:pt x="51885" y="0"/>
                  </a:cubicBezTo>
                  <a:close/>
                </a:path>
              </a:pathLst>
            </a:custGeom>
            <a:solidFill>
              <a:srgbClr val="EAEAE3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54072" cy="20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8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5400000" flipH="1" flipV="1">
            <a:off x="-822573" y="-117888"/>
            <a:ext cx="3512047" cy="3557322"/>
          </a:xfrm>
          <a:custGeom>
            <a:avLst/>
            <a:gdLst/>
            <a:ahLst/>
            <a:cxnLst/>
            <a:rect l="l" t="t" r="r" b="b"/>
            <a:pathLst>
              <a:path w="3512047" h="3557322">
                <a:moveTo>
                  <a:pt x="3512046" y="3557322"/>
                </a:moveTo>
                <a:lnTo>
                  <a:pt x="0" y="3557322"/>
                </a:lnTo>
                <a:lnTo>
                  <a:pt x="0" y="0"/>
                </a:lnTo>
                <a:lnTo>
                  <a:pt x="3512046" y="0"/>
                </a:lnTo>
                <a:lnTo>
                  <a:pt x="3512046" y="35573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356676" y="3254703"/>
            <a:ext cx="5520931" cy="7666079"/>
            <a:chOff x="0" y="0"/>
            <a:chExt cx="1454072" cy="20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54072" cy="2019050"/>
            </a:xfrm>
            <a:custGeom>
              <a:avLst/>
              <a:gdLst/>
              <a:ahLst/>
              <a:cxnLst/>
              <a:rect l="l" t="t" r="r" b="b"/>
              <a:pathLst>
                <a:path w="1454072" h="2019050">
                  <a:moveTo>
                    <a:pt x="51885" y="0"/>
                  </a:moveTo>
                  <a:lnTo>
                    <a:pt x="1402188" y="0"/>
                  </a:lnTo>
                  <a:cubicBezTo>
                    <a:pt x="1430843" y="0"/>
                    <a:pt x="1454072" y="23230"/>
                    <a:pt x="1454072" y="51885"/>
                  </a:cubicBezTo>
                  <a:lnTo>
                    <a:pt x="1454072" y="1967165"/>
                  </a:lnTo>
                  <a:cubicBezTo>
                    <a:pt x="1454072" y="1980926"/>
                    <a:pt x="1448606" y="1994123"/>
                    <a:pt x="1438876" y="2003853"/>
                  </a:cubicBezTo>
                  <a:cubicBezTo>
                    <a:pt x="1429146" y="2013583"/>
                    <a:pt x="1415949" y="2019050"/>
                    <a:pt x="1402188" y="2019050"/>
                  </a:cubicBezTo>
                  <a:lnTo>
                    <a:pt x="51885" y="2019050"/>
                  </a:lnTo>
                  <a:cubicBezTo>
                    <a:pt x="38124" y="2019050"/>
                    <a:pt x="24927" y="2013583"/>
                    <a:pt x="15197" y="2003853"/>
                  </a:cubicBezTo>
                  <a:cubicBezTo>
                    <a:pt x="5466" y="1994123"/>
                    <a:pt x="0" y="1980926"/>
                    <a:pt x="0" y="1967165"/>
                  </a:cubicBezTo>
                  <a:lnTo>
                    <a:pt x="0" y="51885"/>
                  </a:lnTo>
                  <a:cubicBezTo>
                    <a:pt x="0" y="38124"/>
                    <a:pt x="5466" y="24927"/>
                    <a:pt x="15197" y="15197"/>
                  </a:cubicBezTo>
                  <a:cubicBezTo>
                    <a:pt x="24927" y="5466"/>
                    <a:pt x="38124" y="0"/>
                    <a:pt x="51885" y="0"/>
                  </a:cubicBezTo>
                  <a:close/>
                </a:path>
              </a:pathLst>
            </a:custGeom>
            <a:solidFill>
              <a:srgbClr val="EAEAE3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454072" cy="20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flipH="1">
            <a:off x="15909098" y="8025552"/>
            <a:ext cx="3512047" cy="3557322"/>
          </a:xfrm>
          <a:custGeom>
            <a:avLst/>
            <a:gdLst/>
            <a:ahLst/>
            <a:cxnLst/>
            <a:rect l="l" t="t" r="r" b="b"/>
            <a:pathLst>
              <a:path w="3512047" h="3557322">
                <a:moveTo>
                  <a:pt x="3512046" y="0"/>
                </a:moveTo>
                <a:lnTo>
                  <a:pt x="0" y="0"/>
                </a:lnTo>
                <a:lnTo>
                  <a:pt x="0" y="3557322"/>
                </a:lnTo>
                <a:lnTo>
                  <a:pt x="3512046" y="3557322"/>
                </a:lnTo>
                <a:lnTo>
                  <a:pt x="35120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771143" y="4399528"/>
            <a:ext cx="4745715" cy="5412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8"/>
              </a:lnSpc>
            </a:pPr>
            <a:r>
              <a:rPr lang="es-ES" sz="3400" dirty="0"/>
              <a:t>Para Lewin, Dinámica de Grupos es un conjunto de fenómenos que se dan en la vida de los Grupos. “Dinámica” hace referencia a “fuerza”, a la relación de fuerzas que actúan en un grupo, un juego de fuerzas interpersonales, emocionalmente condicionado.</a:t>
            </a:r>
            <a:endParaRPr lang="en-US" sz="3400" dirty="0">
              <a:solidFill>
                <a:srgbClr val="000000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573349" y="3660388"/>
            <a:ext cx="5141301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90"/>
              </a:lnSpc>
              <a:spcBef>
                <a:spcPct val="0"/>
              </a:spcBef>
            </a:pPr>
            <a:r>
              <a:rPr lang="en-US" sz="3300" u="none" strike="noStrike" dirty="0">
                <a:solidFill>
                  <a:srgbClr val="000000"/>
                </a:solidFill>
                <a:latin typeface="Peace Sans"/>
                <a:ea typeface="Peace Sans"/>
                <a:cs typeface="Peace Sans"/>
                <a:sym typeface="Peace Sans"/>
              </a:rPr>
              <a:t>DINÁMICA DE GRUPO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18420" y="1070868"/>
            <a:ext cx="12028588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226"/>
              </a:lnSpc>
              <a:spcBef>
                <a:spcPct val="0"/>
              </a:spcBef>
            </a:pPr>
            <a:r>
              <a:rPr lang="en-US" sz="5000" u="none" strike="noStrike" dirty="0">
                <a:solidFill>
                  <a:schemeClr val="bg1"/>
                </a:solidFill>
                <a:latin typeface="Peace Sans"/>
                <a:ea typeface="Peace Sans"/>
                <a:cs typeface="Peace Sans"/>
                <a:sym typeface="Peace Sans"/>
              </a:rPr>
              <a:t>DIFERENCIACIÓN DE CONCEPTOS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8804" y="4399528"/>
            <a:ext cx="4956675" cy="5232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s-ES" sz="3400" dirty="0"/>
              <a:t>Una pluralidad de personas interrelacionadas para desempeñar cada una un determinado rol definitivo en función de unos objetivos comunes, más o menos compartidos y que interactúan según un sistema de pautas establecido</a:t>
            </a:r>
            <a:endParaRPr lang="en-US" sz="3400" b="1" dirty="0"/>
          </a:p>
        </p:txBody>
      </p:sp>
      <p:sp>
        <p:nvSpPr>
          <p:cNvPr id="17" name="TextBox 17"/>
          <p:cNvSpPr txBox="1"/>
          <p:nvPr/>
        </p:nvSpPr>
        <p:spPr>
          <a:xfrm>
            <a:off x="1331868" y="3660388"/>
            <a:ext cx="3570546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9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Peace Sans"/>
                <a:ea typeface="Peace Sans"/>
                <a:cs typeface="Peace Sans"/>
                <a:sym typeface="Peace Sans"/>
              </a:rPr>
              <a:t>GRUPO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95619" y="4399528"/>
            <a:ext cx="4046630" cy="5404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8"/>
              </a:lnSpc>
            </a:pPr>
            <a:r>
              <a:rPr lang="es-PY" sz="3400" dirty="0"/>
              <a:t>Conjunto de medios, instrumentos y procedimientos que, aplicados al trabajo en grupo, sirven para desarrollar su eficacia, hacer realidad sus potencialidades, estimular la acción y el funcionamiento del grupo para alcanzar sus propios objetivos.</a:t>
            </a:r>
            <a:endParaRPr lang="en-US" sz="3400" dirty="0">
              <a:solidFill>
                <a:srgbClr val="000000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639678" y="3660388"/>
            <a:ext cx="3062361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90"/>
              </a:lnSpc>
              <a:spcBef>
                <a:spcPct val="0"/>
              </a:spcBef>
            </a:pPr>
            <a:r>
              <a:rPr lang="en-US" sz="3300" u="none" strike="noStrike" dirty="0">
                <a:solidFill>
                  <a:srgbClr val="000000"/>
                </a:solidFill>
                <a:latin typeface="Peace Sans"/>
                <a:ea typeface="Peace Sans"/>
                <a:cs typeface="Peace Sans"/>
                <a:sym typeface="Peace Sans"/>
              </a:rPr>
              <a:t>TÉCNICAS DG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049098" y="2875586"/>
            <a:ext cx="4339995" cy="6438191"/>
          </a:xfrm>
          <a:custGeom>
            <a:avLst/>
            <a:gdLst/>
            <a:ahLst/>
            <a:cxnLst/>
            <a:rect l="l" t="t" r="r" b="b"/>
            <a:pathLst>
              <a:path w="4339995" h="6438191">
                <a:moveTo>
                  <a:pt x="0" y="0"/>
                </a:moveTo>
                <a:lnTo>
                  <a:pt x="4339995" y="0"/>
                </a:lnTo>
                <a:lnTo>
                  <a:pt x="4339995" y="6438191"/>
                </a:lnTo>
                <a:lnTo>
                  <a:pt x="0" y="6438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6265679" y="8264679"/>
            <a:ext cx="4044641" cy="404464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561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458244" y="952500"/>
            <a:ext cx="91821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5606"/>
              </a:lnSpc>
              <a:spcBef>
                <a:spcPct val="0"/>
              </a:spcBef>
            </a:pPr>
            <a:r>
              <a:rPr lang="es-ES" sz="5289" dirty="0">
                <a:solidFill>
                  <a:srgbClr val="000000"/>
                </a:solidFill>
                <a:latin typeface="Peace Sans"/>
                <a:ea typeface="Peace Sans"/>
                <a:cs typeface="Peace Sans"/>
                <a:sym typeface="Peace Sans"/>
              </a:rPr>
              <a:t>FINALIDAD DE LAS TÉCNICAS DE DINÁMICAS DE GRUPO</a:t>
            </a:r>
            <a:endParaRPr lang="en-US" sz="5289" u="none" strike="noStrike" dirty="0">
              <a:solidFill>
                <a:srgbClr val="000000"/>
              </a:solidFill>
              <a:latin typeface="Peace Sans"/>
              <a:ea typeface="Peace Sans"/>
              <a:cs typeface="Peace Sans"/>
              <a:sym typeface="Peace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85800" y="9258300"/>
            <a:ext cx="3127076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/>
            <a:r>
              <a:rPr lang="en-US" strike="noStrike" dirty="0">
                <a:solidFill>
                  <a:srgbClr val="000000"/>
                </a:solidFill>
                <a:latin typeface="Arial Black" panose="020B0A04020102020204" pitchFamily="34" charset="0"/>
                <a:ea typeface="Cloud"/>
                <a:cs typeface="Calibri Light" panose="020F0302020204030204" pitchFamily="34" charset="0"/>
                <a:sym typeface="Cloud"/>
              </a:rPr>
              <a:t>Desarrollo Interpersonal y Grupal </a:t>
            </a:r>
            <a:r>
              <a:rPr lang="en-US" dirty="0">
                <a:solidFill>
                  <a:srgbClr val="000000"/>
                </a:solidFill>
                <a:latin typeface="Arial Black" panose="020B0A04020102020204" pitchFamily="34" charset="0"/>
                <a:ea typeface="Cloud"/>
                <a:cs typeface="Calibri Light" panose="020F0302020204030204" pitchFamily="34" charset="0"/>
                <a:sym typeface="Cloud"/>
              </a:rPr>
              <a:t>I</a:t>
            </a:r>
            <a:endParaRPr lang="en-US" strike="noStrike" dirty="0">
              <a:solidFill>
                <a:srgbClr val="000000"/>
              </a:solidFill>
              <a:latin typeface="Arial Black" panose="020B0A04020102020204" pitchFamily="34" charset="0"/>
              <a:ea typeface="Cloud"/>
              <a:cs typeface="Calibri Light" panose="020F0302020204030204" pitchFamily="34" charset="0"/>
              <a:sym typeface="Clou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7249775" y="5849212"/>
            <a:ext cx="3396303" cy="3409088"/>
          </a:xfrm>
          <a:custGeom>
            <a:avLst/>
            <a:gdLst/>
            <a:ahLst/>
            <a:cxnLst/>
            <a:rect l="l" t="t" r="r" b="b"/>
            <a:pathLst>
              <a:path w="3396303" h="3409088">
                <a:moveTo>
                  <a:pt x="0" y="0"/>
                </a:moveTo>
                <a:lnTo>
                  <a:pt x="3396303" y="0"/>
                </a:lnTo>
                <a:lnTo>
                  <a:pt x="3396303" y="3409088"/>
                </a:lnTo>
                <a:lnTo>
                  <a:pt x="0" y="340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Rectángulo 12"/>
          <p:cNvSpPr/>
          <p:nvPr/>
        </p:nvSpPr>
        <p:spPr>
          <a:xfrm>
            <a:off x="6500465" y="3731034"/>
            <a:ext cx="9429456" cy="580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Las técnicas DG pretenden que los participantes del grupo adquieran, mediante los procesos desarrollados y experimentados en él, nuevos conceptos, conocimientos y comportamientos en relación con el fenómeno grupal y en relación con ellos/as mismos/as.</a:t>
            </a:r>
            <a:endParaRPr lang="en-US" sz="3600" dirty="0">
              <a:latin typeface="Arial" panose="020B0604020202020204" pitchFamily="34" charset="0"/>
              <a:ea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191</Words>
  <Application>Microsoft Office PowerPoint</Application>
  <PresentationFormat>Custom</PresentationFormat>
  <Paragraphs>12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Bold Illustrative Puzzle Diagrams for Middle School</dc:title>
  <dc:creator>Monica Silva</dc:creator>
  <cp:lastModifiedBy>Lourdes Mariana Velilla Cabrera</cp:lastModifiedBy>
  <cp:revision>33</cp:revision>
  <dcterms:created xsi:type="dcterms:W3CDTF">2006-08-16T00:00:00Z</dcterms:created>
  <dcterms:modified xsi:type="dcterms:W3CDTF">2025-06-24T14:06:00Z</dcterms:modified>
  <dc:identifier>DAGoBpVKxIM</dc:identifier>
</cp:coreProperties>
</file>