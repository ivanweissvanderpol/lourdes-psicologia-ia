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77" r:id="rId4"/>
    <p:sldId id="262" r:id="rId5"/>
    <p:sldId id="265" r:id="rId6"/>
    <p:sldId id="263" r:id="rId7"/>
    <p:sldId id="278" r:id="rId8"/>
    <p:sldId id="257" r:id="rId9"/>
    <p:sldId id="272" r:id="rId10"/>
    <p:sldId id="258" r:id="rId11"/>
    <p:sldId id="267" r:id="rId12"/>
    <p:sldId id="273" r:id="rId13"/>
    <p:sldId id="274" r:id="rId14"/>
    <p:sldId id="275" r:id="rId15"/>
    <p:sldId id="276" r:id="rId16"/>
    <p:sldId id="286" r:id="rId17"/>
    <p:sldId id="279" r:id="rId18"/>
    <p:sldId id="285" r:id="rId19"/>
    <p:sldId id="280" r:id="rId20"/>
    <p:sldId id="281" r:id="rId21"/>
    <p:sldId id="282" r:id="rId22"/>
    <p:sldId id="283" r:id="rId23"/>
    <p:sldId id="284" r:id="rId24"/>
    <p:sldId id="28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6/24/25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484711" y="2357846"/>
            <a:ext cx="8915399" cy="2262781"/>
          </a:xfrm>
        </p:spPr>
        <p:txBody>
          <a:bodyPr anchor="ctr">
            <a:normAutofit/>
          </a:bodyPr>
          <a:lstStyle/>
          <a:p>
            <a:pPr algn="ctr"/>
            <a:r>
              <a:rPr lang="es-ES" sz="4000" dirty="0">
                <a:solidFill>
                  <a:srgbClr val="002060"/>
                </a:solidFill>
              </a:rPr>
              <a:t>DESARROLLO INTERPERSONAL Y GRUPAL I</a:t>
            </a:r>
            <a:endParaRPr lang="en-US" sz="4000" dirty="0">
              <a:solidFill>
                <a:srgbClr val="002060"/>
              </a:solidFill>
            </a:endParaRPr>
          </a:p>
        </p:txBody>
      </p:sp>
      <p:sp>
        <p:nvSpPr>
          <p:cNvPr id="3" name="Subtítulo 2"/>
          <p:cNvSpPr>
            <a:spLocks noGrp="1"/>
          </p:cNvSpPr>
          <p:nvPr>
            <p:ph type="subTitle" idx="1"/>
          </p:nvPr>
        </p:nvSpPr>
        <p:spPr>
          <a:xfrm>
            <a:off x="2484711" y="4620625"/>
            <a:ext cx="8915399" cy="1126283"/>
          </a:xfrm>
        </p:spPr>
        <p:txBody>
          <a:bodyPr anchor="ctr">
            <a:normAutofit/>
          </a:bodyPr>
          <a:lstStyle/>
          <a:p>
            <a:pPr algn="ctr"/>
            <a:r>
              <a:rPr lang="es-ES" sz="3000" dirty="0">
                <a:solidFill>
                  <a:srgbClr val="0070C0"/>
                </a:solidFill>
                <a:latin typeface="Broadway" panose="04040905080B02020502" pitchFamily="82" charset="0"/>
              </a:rPr>
              <a:t>FORMACIÓN DE UN GRUPO</a:t>
            </a:r>
            <a:endParaRPr lang="en-US" sz="3000" dirty="0">
              <a:solidFill>
                <a:srgbClr val="0070C0"/>
              </a:solidFill>
              <a:latin typeface="Broadway" panose="04040905080B02020502" pitchFamily="82" charset="0"/>
            </a:endParaRPr>
          </a:p>
        </p:txBody>
      </p:sp>
      <p:sp>
        <p:nvSpPr>
          <p:cNvPr id="4" name="Subtítulo 2"/>
          <p:cNvSpPr txBox="1">
            <a:spLocks/>
          </p:cNvSpPr>
          <p:nvPr/>
        </p:nvSpPr>
        <p:spPr>
          <a:xfrm>
            <a:off x="2637111" y="632089"/>
            <a:ext cx="8915399" cy="1126283"/>
          </a:xfrm>
          <a:prstGeom prst="rect">
            <a:avLst/>
          </a:prstGeom>
        </p:spPr>
        <p:txBody>
          <a:bodyPr vert="horz" lIns="91440" tIns="45720" rIns="91440" bIns="45720" rtlCol="0" anchor="ctr">
            <a:normAutofit lnSpcReduction="10000"/>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pPr algn="ctr"/>
            <a:r>
              <a:rPr lang="es-ES" sz="3000" dirty="0">
                <a:solidFill>
                  <a:srgbClr val="0070C0"/>
                </a:solidFill>
                <a:latin typeface="Bodoni MT" panose="02070603080606020203" pitchFamily="18" charset="0"/>
              </a:rPr>
              <a:t>UNIVERDIDAD NACIONAL DE ASUNCIÓN</a:t>
            </a:r>
          </a:p>
          <a:p>
            <a:pPr algn="ctr"/>
            <a:r>
              <a:rPr lang="es-ES" sz="3000" dirty="0">
                <a:solidFill>
                  <a:srgbClr val="0070C0"/>
                </a:solidFill>
                <a:latin typeface="Bodoni MT" panose="02070603080606020203" pitchFamily="18" charset="0"/>
              </a:rPr>
              <a:t>CARRERA DE PSICOLOGÍA</a:t>
            </a:r>
            <a:endParaRPr lang="en-US" sz="3000" dirty="0">
              <a:solidFill>
                <a:srgbClr val="0070C0"/>
              </a:solidFill>
              <a:latin typeface="Bodoni MT" panose="02070603080606020203" pitchFamily="18" charset="0"/>
            </a:endParaRPr>
          </a:p>
        </p:txBody>
      </p:sp>
    </p:spTree>
    <p:extLst>
      <p:ext uri="{BB962C8B-B14F-4D97-AF65-F5344CB8AC3E}">
        <p14:creationId xmlns:p14="http://schemas.microsoft.com/office/powerpoint/2010/main" val="1574709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54406" y="763116"/>
            <a:ext cx="8911687" cy="1280890"/>
          </a:xfrm>
        </p:spPr>
        <p:txBody>
          <a:bodyPr>
            <a:normAutofit fontScale="90000"/>
          </a:bodyPr>
          <a:lstStyle/>
          <a:p>
            <a:pPr algn="ctr"/>
            <a:r>
              <a:rPr lang="es-PY" sz="3900" b="1" dirty="0">
                <a:solidFill>
                  <a:srgbClr val="0070C0"/>
                </a:solidFill>
              </a:rPr>
              <a:t>Dinámica de CONOCIMIENTO MUTUO</a:t>
            </a:r>
            <a:br>
              <a:rPr lang="en-US" b="1" dirty="0">
                <a:solidFill>
                  <a:srgbClr val="0070C0"/>
                </a:solidFill>
              </a:rPr>
            </a:br>
            <a:r>
              <a:rPr lang="es-PY" b="1" dirty="0"/>
              <a:t> </a:t>
            </a:r>
            <a:endParaRPr lang="en-US" sz="2900" b="1" dirty="0"/>
          </a:p>
        </p:txBody>
      </p:sp>
      <p:sp>
        <p:nvSpPr>
          <p:cNvPr id="3" name="Rectángulo 2"/>
          <p:cNvSpPr/>
          <p:nvPr/>
        </p:nvSpPr>
        <p:spPr>
          <a:xfrm>
            <a:off x="1960836" y="1918186"/>
            <a:ext cx="9405257" cy="3785652"/>
          </a:xfrm>
          <a:prstGeom prst="rect">
            <a:avLst/>
          </a:prstGeom>
        </p:spPr>
        <p:txBody>
          <a:bodyPr wrap="square">
            <a:spAutoFit/>
          </a:bodyPr>
          <a:lstStyle/>
          <a:p>
            <a:pPr algn="ctr"/>
            <a:r>
              <a:rPr lang="es-PY" sz="3600" b="1" dirty="0">
                <a:solidFill>
                  <a:srgbClr val="002060"/>
                </a:solidFill>
              </a:rPr>
              <a:t>EL </a:t>
            </a:r>
            <a:r>
              <a:rPr lang="es-ES" sz="3600" b="1" dirty="0">
                <a:solidFill>
                  <a:srgbClr val="002060"/>
                </a:solidFill>
              </a:rPr>
              <a:t>CUADRO</a:t>
            </a:r>
            <a:br>
              <a:rPr lang="es-ES" sz="2400" b="1" dirty="0">
                <a:solidFill>
                  <a:srgbClr val="002060"/>
                </a:solidFill>
              </a:rPr>
            </a:br>
            <a:endParaRPr lang="es-ES" sz="2400" b="1" dirty="0">
              <a:solidFill>
                <a:srgbClr val="002060"/>
              </a:solidFill>
            </a:endParaRPr>
          </a:p>
          <a:p>
            <a:pPr>
              <a:spcBef>
                <a:spcPts val="1200"/>
              </a:spcBef>
              <a:spcAft>
                <a:spcPts val="1200"/>
              </a:spcAft>
            </a:pPr>
            <a:r>
              <a:rPr lang="es-ES" sz="4000" b="1" dirty="0">
                <a:solidFill>
                  <a:srgbClr val="002060"/>
                </a:solidFill>
              </a:rPr>
              <a:t>S</a:t>
            </a:r>
            <a:r>
              <a:rPr lang="es-ES" sz="2600" dirty="0"/>
              <a:t>e hace entrega a cada participante de un cuadro con diferentes afirmaciones.</a:t>
            </a:r>
            <a:br>
              <a:rPr lang="es-ES" sz="2600" dirty="0"/>
            </a:br>
            <a:r>
              <a:rPr lang="es-ES" sz="2600" dirty="0"/>
              <a:t>Por ejemplo: alguien que calce el mismo número que yo. En cada casilla deben conseguir la firma de algún compañero o compañera que cumpla con esa afirmación. Finalmente se hace una puesta en común.</a:t>
            </a:r>
            <a:endParaRPr lang="en-US" sz="2600" dirty="0"/>
          </a:p>
        </p:txBody>
      </p:sp>
    </p:spTree>
    <p:extLst>
      <p:ext uri="{BB962C8B-B14F-4D97-AF65-F5344CB8AC3E}">
        <p14:creationId xmlns:p14="http://schemas.microsoft.com/office/powerpoint/2010/main" val="2326892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barn(inVertical)">
                                      <p:cBhvr>
                                        <p:cTn id="20" dur="75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18604" y="2857859"/>
            <a:ext cx="8911687" cy="1280890"/>
          </a:xfrm>
          <a:solidFill>
            <a:schemeClr val="accent5">
              <a:lumMod val="60000"/>
              <a:lumOff val="40000"/>
            </a:schemeClr>
          </a:solidFill>
        </p:spPr>
        <p:txBody>
          <a:bodyPr anchor="ctr"/>
          <a:lstStyle/>
          <a:p>
            <a:pPr algn="ctr"/>
            <a:r>
              <a:rPr lang="es-ES" b="1" dirty="0"/>
              <a:t>TÉCNICA DE FORMACIÓN DE GRUPO</a:t>
            </a:r>
            <a:endParaRPr lang="en-US" b="1" dirty="0"/>
          </a:p>
        </p:txBody>
      </p:sp>
    </p:spTree>
    <p:extLst>
      <p:ext uri="{BB962C8B-B14F-4D97-AF65-F5344CB8AC3E}">
        <p14:creationId xmlns:p14="http://schemas.microsoft.com/office/powerpoint/2010/main" val="152447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2704010" y="2287772"/>
            <a:ext cx="8125099" cy="2239267"/>
          </a:xfrm>
          <a:prstGeom prst="rect">
            <a:avLst/>
          </a:prstGeom>
          <a:solidFill>
            <a:schemeClr val="accent5">
              <a:lumMod val="60000"/>
              <a:lumOff val="40000"/>
            </a:schemeClr>
          </a:solidFill>
        </p:spPr>
        <p:txBody>
          <a:bodyPr wrap="square">
            <a:spAutoFit/>
          </a:bodyPr>
          <a:lstStyle/>
          <a:p>
            <a:pPr>
              <a:lnSpc>
                <a:spcPct val="150000"/>
              </a:lnSpc>
            </a:pPr>
            <a:r>
              <a:rPr lang="es-ES" sz="2400" b="1" dirty="0"/>
              <a:t>“Una técnica no es por sí misma ni buena ni</a:t>
            </a:r>
          </a:p>
          <a:p>
            <a:pPr>
              <a:lnSpc>
                <a:spcPct val="150000"/>
              </a:lnSpc>
            </a:pPr>
            <a:r>
              <a:rPr lang="es-ES" sz="2400" b="1" dirty="0"/>
              <a:t>mala, pero puede ser aplicada eficazmente,</a:t>
            </a:r>
          </a:p>
          <a:p>
            <a:pPr>
              <a:lnSpc>
                <a:spcPct val="150000"/>
              </a:lnSpc>
            </a:pPr>
            <a:r>
              <a:rPr lang="en-US" sz="2400" b="1" dirty="0" err="1"/>
              <a:t>indiferentemente</a:t>
            </a:r>
            <a:r>
              <a:rPr lang="en-US" sz="2400" b="1" dirty="0"/>
              <a:t> o </a:t>
            </a:r>
            <a:r>
              <a:rPr lang="en-US" sz="2400" b="1" dirty="0" err="1"/>
              <a:t>desastrosamente</a:t>
            </a:r>
            <a:r>
              <a:rPr lang="en-US" sz="2400" b="1" dirty="0"/>
              <a:t>”</a:t>
            </a:r>
          </a:p>
          <a:p>
            <a:pPr>
              <a:lnSpc>
                <a:spcPct val="150000"/>
              </a:lnSpc>
            </a:pPr>
            <a:r>
              <a:rPr lang="en-US" sz="2400" b="1" dirty="0"/>
              <a:t>													</a:t>
            </a:r>
            <a:r>
              <a:rPr lang="en-US" sz="2400" b="1" dirty="0" err="1"/>
              <a:t>Thelen</a:t>
            </a:r>
            <a:endParaRPr lang="es-PY" sz="2400" b="1"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15854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301829" y="829492"/>
            <a:ext cx="8915399" cy="2262781"/>
          </a:xfrm>
        </p:spPr>
        <p:txBody>
          <a:bodyPr/>
          <a:lstStyle/>
          <a:p>
            <a:pPr algn="ctr"/>
            <a:r>
              <a:rPr lang="es-ES" b="1" dirty="0">
                <a:solidFill>
                  <a:srgbClr val="0070C0"/>
                </a:solidFill>
              </a:rPr>
              <a:t>UNIDAD I</a:t>
            </a:r>
            <a:endParaRPr lang="en-US" b="1" dirty="0">
              <a:solidFill>
                <a:srgbClr val="0070C0"/>
              </a:solidFill>
            </a:endParaRPr>
          </a:p>
        </p:txBody>
      </p:sp>
      <p:sp>
        <p:nvSpPr>
          <p:cNvPr id="3" name="Subtítulo 2"/>
          <p:cNvSpPr>
            <a:spLocks noGrp="1"/>
          </p:cNvSpPr>
          <p:nvPr>
            <p:ph type="subTitle" idx="1"/>
          </p:nvPr>
        </p:nvSpPr>
        <p:spPr>
          <a:xfrm>
            <a:off x="2301828" y="3680099"/>
            <a:ext cx="8915399" cy="1126283"/>
          </a:xfrm>
        </p:spPr>
        <p:txBody>
          <a:bodyPr>
            <a:normAutofit/>
          </a:bodyPr>
          <a:lstStyle/>
          <a:p>
            <a:pPr algn="ctr"/>
            <a:r>
              <a:rPr lang="es-PY" sz="3000" b="1" dirty="0">
                <a:solidFill>
                  <a:srgbClr val="0070C0"/>
                </a:solidFill>
              </a:rPr>
              <a:t>El grupo como realidad social</a:t>
            </a:r>
            <a:endParaRPr lang="en-US" sz="3000" dirty="0">
              <a:solidFill>
                <a:srgbClr val="0070C0"/>
              </a:solidFill>
            </a:endParaRPr>
          </a:p>
        </p:txBody>
      </p:sp>
    </p:spTree>
    <p:extLst>
      <p:ext uri="{BB962C8B-B14F-4D97-AF65-F5344CB8AC3E}">
        <p14:creationId xmlns:p14="http://schemas.microsoft.com/office/powerpoint/2010/main" val="950957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27018" y="624110"/>
            <a:ext cx="8911687" cy="1280890"/>
          </a:xfrm>
        </p:spPr>
        <p:txBody>
          <a:bodyPr/>
          <a:lstStyle/>
          <a:p>
            <a:pPr algn="ctr"/>
            <a:r>
              <a:rPr lang="es-PY" sz="3000" b="1" dirty="0">
                <a:solidFill>
                  <a:srgbClr val="0070C0"/>
                </a:solidFill>
              </a:rPr>
              <a:t>COMPARTIMOS LA SIGUIENTE REFLEXIÓN</a:t>
            </a:r>
            <a:r>
              <a:rPr lang="es-PY" b="1" dirty="0">
                <a:solidFill>
                  <a:srgbClr val="0070C0"/>
                </a:solidFill>
              </a:rPr>
              <a:t> </a:t>
            </a:r>
            <a:endParaRPr lang="en-US" b="1" dirty="0">
              <a:solidFill>
                <a:srgbClr val="0070C0"/>
              </a:solidFill>
            </a:endParaRPr>
          </a:p>
        </p:txBody>
      </p:sp>
      <p:pic>
        <p:nvPicPr>
          <p:cNvPr id="4" name="Imagen 3"/>
          <p:cNvPicPr/>
          <p:nvPr/>
        </p:nvPicPr>
        <p:blipFill rotWithShape="1">
          <a:blip r:embed="rId2"/>
          <a:srcRect l="31229" t="33072" r="36456" b="24442"/>
          <a:stretch/>
        </p:blipFill>
        <p:spPr bwMode="auto">
          <a:xfrm>
            <a:off x="2592925" y="1490662"/>
            <a:ext cx="8379875" cy="526283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17043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88422" y="1577698"/>
            <a:ext cx="8911687" cy="1280890"/>
          </a:xfrm>
        </p:spPr>
        <p:txBody>
          <a:bodyPr/>
          <a:lstStyle/>
          <a:p>
            <a:r>
              <a:rPr lang="es-ES" b="1" dirty="0"/>
              <a:t>RESPONDEMOS A LA PREGUNTA:</a:t>
            </a:r>
            <a:endParaRPr lang="en-US" b="1" dirty="0"/>
          </a:p>
        </p:txBody>
      </p:sp>
      <p:sp>
        <p:nvSpPr>
          <p:cNvPr id="4" name="Título 1"/>
          <p:cNvSpPr txBox="1">
            <a:spLocks/>
          </p:cNvSpPr>
          <p:nvPr/>
        </p:nvSpPr>
        <p:spPr>
          <a:xfrm>
            <a:off x="2026572" y="3092990"/>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s-PY" b="1">
                <a:solidFill>
                  <a:srgbClr val="0070C0"/>
                </a:solidFill>
              </a:rPr>
              <a:t>¿POR QUÉ EL ESTUDIO DE LOS GRUPOS? </a:t>
            </a:r>
            <a:endParaRPr lang="en-US" b="1" dirty="0">
              <a:solidFill>
                <a:srgbClr val="0070C0"/>
              </a:solidFill>
            </a:endParaRPr>
          </a:p>
        </p:txBody>
      </p:sp>
    </p:spTree>
    <p:extLst>
      <p:ext uri="{BB962C8B-B14F-4D97-AF65-F5344CB8AC3E}">
        <p14:creationId xmlns:p14="http://schemas.microsoft.com/office/powerpoint/2010/main" val="352768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n-US" b="1" i="1" dirty="0"/>
              <a:t>John Levine y Richard Moreland</a:t>
            </a:r>
            <a:r>
              <a:rPr lang="en-US" b="1" dirty="0"/>
              <a:t> </a:t>
            </a:r>
            <a:r>
              <a:rPr lang="es-PY" dirty="0"/>
              <a:t>(1998), </a:t>
            </a:r>
            <a:endParaRPr lang="en-US" dirty="0"/>
          </a:p>
        </p:txBody>
      </p:sp>
      <p:sp>
        <p:nvSpPr>
          <p:cNvPr id="3" name="Marcador de contenido 2"/>
          <p:cNvSpPr>
            <a:spLocks noGrp="1"/>
          </p:cNvSpPr>
          <p:nvPr>
            <p:ph idx="1"/>
          </p:nvPr>
        </p:nvSpPr>
        <p:spPr>
          <a:xfrm>
            <a:off x="1933303" y="1580606"/>
            <a:ext cx="9571309" cy="4330616"/>
          </a:xfrm>
        </p:spPr>
        <p:txBody>
          <a:bodyPr>
            <a:normAutofit/>
          </a:bodyPr>
          <a:lstStyle/>
          <a:p>
            <a:r>
              <a:rPr lang="es-PY" dirty="0"/>
              <a:t>Los grupos son un elemento central en la vida de las personas. Esto es especialmente cierto, debemos añadir, cuando hablamos de los grupos primarios. </a:t>
            </a:r>
            <a:endParaRPr lang="en-US" dirty="0"/>
          </a:p>
          <a:p>
            <a:r>
              <a:rPr lang="es-PY" dirty="0"/>
              <a:t>Comprender lo que ocurre en el grupo, cuáles son sus características, sus reglas de juego o sus objetivos resulta esencial para comprender una buena parte del comportamiento de los individuos. </a:t>
            </a:r>
            <a:endParaRPr lang="en-US" dirty="0"/>
          </a:p>
          <a:p>
            <a:r>
              <a:rPr lang="es-PY" dirty="0"/>
              <a:t>Algunos de los comportamientos sociales más interesantes y atractivos son fenómenos grupales (el liderazgo, la influencia, las relaciones mayoría, minoría, etc.). </a:t>
            </a:r>
            <a:endParaRPr lang="en-US" dirty="0"/>
          </a:p>
          <a:p>
            <a:r>
              <a:rPr lang="es-PY" dirty="0"/>
              <a:t>El grupo es el contexto en el que se construyen y se manifiestan una parte importante de nuestros comportamientos. </a:t>
            </a:r>
            <a:endParaRPr lang="en-US" dirty="0"/>
          </a:p>
          <a:p>
            <a:r>
              <a:rPr lang="es-PY" dirty="0"/>
              <a:t>Los grupos son una fuente de refuerzos para los individuos. Y también de tribulaciones, añaden. </a:t>
            </a:r>
            <a:endParaRPr lang="en-US" dirty="0"/>
          </a:p>
        </p:txBody>
      </p:sp>
    </p:spTree>
    <p:extLst>
      <p:ext uri="{BB962C8B-B14F-4D97-AF65-F5344CB8AC3E}">
        <p14:creationId xmlns:p14="http://schemas.microsoft.com/office/powerpoint/2010/main" val="2125713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946365" y="1590761"/>
            <a:ext cx="9127171" cy="3320873"/>
          </a:xfrm>
          <a:solidFill>
            <a:schemeClr val="accent5">
              <a:lumMod val="60000"/>
              <a:lumOff val="40000"/>
            </a:schemeClr>
          </a:solidFill>
        </p:spPr>
        <p:txBody>
          <a:bodyPr>
            <a:noAutofit/>
          </a:bodyPr>
          <a:lstStyle/>
          <a:p>
            <a:pPr>
              <a:lnSpc>
                <a:spcPct val="150000"/>
              </a:lnSpc>
            </a:pPr>
            <a:r>
              <a:rPr lang="es-ES" sz="3000" b="1" dirty="0"/>
              <a:t>Vivir solo, es imposible. Vivir en pareja, muy</a:t>
            </a:r>
            <a:br>
              <a:rPr lang="es-ES" sz="3000" b="1" dirty="0"/>
            </a:br>
            <a:r>
              <a:rPr lang="es-ES" sz="3000" b="1" dirty="0"/>
              <a:t>difícil. Vivir en grupo, muy difícil también, pero sabiéndolo mirar resulta apasionante.</a:t>
            </a:r>
            <a:br>
              <a:rPr lang="es-ES" sz="3000" b="1" dirty="0"/>
            </a:br>
            <a:br>
              <a:rPr lang="es-ES" sz="3000" b="1" dirty="0"/>
            </a:br>
            <a:r>
              <a:rPr lang="es-ES" sz="3000" b="1" dirty="0"/>
              <a:t>										</a:t>
            </a:r>
            <a:r>
              <a:rPr lang="es-ES" sz="2400" b="1" dirty="0"/>
              <a:t>	(Francia– Mata, 1992).</a:t>
            </a:r>
            <a:endParaRPr lang="en-US" sz="2400" b="1" dirty="0"/>
          </a:p>
        </p:txBody>
      </p:sp>
    </p:spTree>
    <p:extLst>
      <p:ext uri="{BB962C8B-B14F-4D97-AF65-F5344CB8AC3E}">
        <p14:creationId xmlns:p14="http://schemas.microsoft.com/office/powerpoint/2010/main" val="4289972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64377" y="852710"/>
            <a:ext cx="9715001" cy="1280890"/>
          </a:xfrm>
        </p:spPr>
        <p:txBody>
          <a:bodyPr>
            <a:noAutofit/>
          </a:bodyPr>
          <a:lstStyle/>
          <a:p>
            <a:pPr algn="just"/>
            <a:r>
              <a:rPr lang="es-PY" sz="4000" b="1" dirty="0">
                <a:solidFill>
                  <a:schemeClr val="accent1">
                    <a:lumMod val="75000"/>
                  </a:schemeClr>
                </a:solidFill>
              </a:rPr>
              <a:t>P</a:t>
            </a:r>
            <a:r>
              <a:rPr lang="es-PY" sz="3000" dirty="0">
                <a:solidFill>
                  <a:srgbClr val="0070C0"/>
                </a:solidFill>
              </a:rPr>
              <a:t>ara </a:t>
            </a:r>
            <a:r>
              <a:rPr lang="es-PY" sz="3000" dirty="0" err="1">
                <a:solidFill>
                  <a:srgbClr val="0070C0"/>
                </a:solidFill>
              </a:rPr>
              <a:t>Levine</a:t>
            </a:r>
            <a:r>
              <a:rPr lang="es-PY" sz="3000" dirty="0">
                <a:solidFill>
                  <a:srgbClr val="0070C0"/>
                </a:solidFill>
              </a:rPr>
              <a:t> y </a:t>
            </a:r>
            <a:r>
              <a:rPr lang="es-PY" sz="3000" dirty="0" err="1">
                <a:solidFill>
                  <a:srgbClr val="0070C0"/>
                </a:solidFill>
              </a:rPr>
              <a:t>Moreland</a:t>
            </a:r>
            <a:r>
              <a:rPr lang="es-PY" sz="3000" dirty="0">
                <a:solidFill>
                  <a:srgbClr val="0070C0"/>
                </a:solidFill>
              </a:rPr>
              <a:t>:</a:t>
            </a:r>
            <a:endParaRPr lang="en-US" sz="3000" dirty="0">
              <a:solidFill>
                <a:srgbClr val="0070C0"/>
              </a:solidFill>
            </a:endParaRPr>
          </a:p>
        </p:txBody>
      </p:sp>
      <p:sp>
        <p:nvSpPr>
          <p:cNvPr id="3" name="Marcador de contenido 2"/>
          <p:cNvSpPr>
            <a:spLocks noGrp="1"/>
          </p:cNvSpPr>
          <p:nvPr>
            <p:ph idx="1"/>
          </p:nvPr>
        </p:nvSpPr>
        <p:spPr>
          <a:xfrm>
            <a:off x="1789612" y="2120537"/>
            <a:ext cx="9588138" cy="3777622"/>
          </a:xfrm>
        </p:spPr>
        <p:txBody>
          <a:bodyPr>
            <a:normAutofit/>
          </a:bodyPr>
          <a:lstStyle/>
          <a:p>
            <a:r>
              <a:rPr lang="es-PY" sz="2400" dirty="0"/>
              <a:t>Los grupos son inevitables y ubicuos; </a:t>
            </a:r>
            <a:endParaRPr lang="en-US" sz="2400" dirty="0"/>
          </a:p>
          <a:p>
            <a:r>
              <a:rPr lang="es-PY" sz="2400" dirty="0"/>
              <a:t>Los grupos movilizan fuerzas poderosas que producen efectos de la mayor importancia para los individuos; </a:t>
            </a:r>
            <a:endParaRPr lang="en-US" sz="2400" dirty="0"/>
          </a:p>
          <a:p>
            <a:r>
              <a:rPr lang="es-PY" sz="2400" dirty="0"/>
              <a:t>Los grupos pueden producir consecuencias buenas y malas, y</a:t>
            </a:r>
            <a:endParaRPr lang="en-US" sz="2400" dirty="0"/>
          </a:p>
          <a:p>
            <a:r>
              <a:rPr lang="es-PY" sz="2400" dirty="0"/>
              <a:t>Un correcto entendimiento de la dinámica de grupo mediante la investigación, posibilita el aumentar deliberadamente las consecuencias deseables en los grupos. </a:t>
            </a:r>
            <a:endParaRPr lang="en-US" sz="2400" dirty="0"/>
          </a:p>
        </p:txBody>
      </p:sp>
    </p:spTree>
    <p:extLst>
      <p:ext uri="{BB962C8B-B14F-4D97-AF65-F5344CB8AC3E}">
        <p14:creationId xmlns:p14="http://schemas.microsoft.com/office/powerpoint/2010/main" val="1298484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867990" y="727165"/>
            <a:ext cx="9362302" cy="3117040"/>
          </a:xfrm>
        </p:spPr>
        <p:txBody>
          <a:bodyPr>
            <a:normAutofit/>
          </a:bodyPr>
          <a:lstStyle/>
          <a:p>
            <a:pPr algn="ctr"/>
            <a:r>
              <a:rPr lang="es-PY" sz="3800" b="1" dirty="0">
                <a:solidFill>
                  <a:srgbClr val="0070C0"/>
                </a:solidFill>
              </a:rPr>
              <a:t>Importancia del conocimiento de lo grupal</a:t>
            </a:r>
            <a:br>
              <a:rPr lang="en-US" dirty="0"/>
            </a:br>
            <a:br>
              <a:rPr lang="es-PY" sz="3000" dirty="0"/>
            </a:br>
            <a:r>
              <a:rPr lang="es-PY" sz="3000" dirty="0"/>
              <a:t>El ser humano se construye en las relaciones con los otros seres humanos.</a:t>
            </a:r>
            <a:endParaRPr lang="en-US" sz="3000" dirty="0"/>
          </a:p>
        </p:txBody>
      </p:sp>
      <p:sp>
        <p:nvSpPr>
          <p:cNvPr id="3" name="Marcador de texto 2"/>
          <p:cNvSpPr>
            <a:spLocks noGrp="1"/>
          </p:cNvSpPr>
          <p:nvPr>
            <p:ph type="body" idx="1"/>
          </p:nvPr>
        </p:nvSpPr>
        <p:spPr>
          <a:xfrm>
            <a:off x="1998618" y="3984171"/>
            <a:ext cx="9505994" cy="1925739"/>
          </a:xfrm>
        </p:spPr>
        <p:txBody>
          <a:bodyPr>
            <a:normAutofit/>
          </a:bodyPr>
          <a:lstStyle/>
          <a:p>
            <a:pPr algn="ctr"/>
            <a:r>
              <a:rPr lang="es-PY" sz="2500" dirty="0">
                <a:solidFill>
                  <a:srgbClr val="0070C0"/>
                </a:solidFill>
              </a:rPr>
              <a:t>El conocimiento de lo grupal es de enorme utilidad para comprender la realidad y transformarla. </a:t>
            </a:r>
            <a:endParaRPr lang="en-US" sz="2500" dirty="0">
              <a:solidFill>
                <a:srgbClr val="0070C0"/>
              </a:solidFill>
            </a:endParaRPr>
          </a:p>
        </p:txBody>
      </p:sp>
    </p:spTree>
    <p:extLst>
      <p:ext uri="{BB962C8B-B14F-4D97-AF65-F5344CB8AC3E}">
        <p14:creationId xmlns:p14="http://schemas.microsoft.com/office/powerpoint/2010/main" val="2398569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2592925" y="624110"/>
            <a:ext cx="8911687" cy="969559"/>
          </a:xfrm>
        </p:spPr>
        <p:txBody>
          <a:bodyPr/>
          <a:lstStyle/>
          <a:p>
            <a:r>
              <a:rPr lang="es-ES" b="1" dirty="0">
                <a:solidFill>
                  <a:srgbClr val="0070C0"/>
                </a:solidFill>
              </a:rPr>
              <a:t>Componentes básicos de todo grupo:</a:t>
            </a:r>
            <a:endParaRPr lang="en-US" b="1" dirty="0">
              <a:solidFill>
                <a:srgbClr val="0070C0"/>
              </a:solidFill>
            </a:endParaRPr>
          </a:p>
        </p:txBody>
      </p:sp>
      <p:sp>
        <p:nvSpPr>
          <p:cNvPr id="5" name="Marcador de contenido 4"/>
          <p:cNvSpPr>
            <a:spLocks noGrp="1"/>
          </p:cNvSpPr>
          <p:nvPr>
            <p:ph idx="1"/>
          </p:nvPr>
        </p:nvSpPr>
        <p:spPr>
          <a:xfrm>
            <a:off x="1580607" y="1593669"/>
            <a:ext cx="10345782" cy="4963885"/>
          </a:xfrm>
        </p:spPr>
        <p:txBody>
          <a:bodyPr>
            <a:noAutofit/>
          </a:bodyPr>
          <a:lstStyle/>
          <a:p>
            <a:pPr>
              <a:lnSpc>
                <a:spcPct val="150000"/>
              </a:lnSpc>
              <a:spcBef>
                <a:spcPts val="1200"/>
              </a:spcBef>
            </a:pPr>
            <a:r>
              <a:rPr lang="es-ES" sz="2200" dirty="0"/>
              <a:t>Un conjunto de personas que </a:t>
            </a:r>
            <a:r>
              <a:rPr lang="es-ES" sz="2200" b="1" u="sng" dirty="0"/>
              <a:t>interaccionan</a:t>
            </a:r>
            <a:r>
              <a:rPr lang="es-ES" sz="2200" dirty="0"/>
              <a:t> entre sí en una relación cara a cara, directa, por medio de la cual se influyen mutuamente.</a:t>
            </a:r>
          </a:p>
          <a:p>
            <a:pPr>
              <a:lnSpc>
                <a:spcPct val="150000"/>
              </a:lnSpc>
              <a:spcBef>
                <a:spcPts val="1200"/>
              </a:spcBef>
            </a:pPr>
            <a:r>
              <a:rPr lang="es-ES" sz="2200" dirty="0"/>
              <a:t>Unos </a:t>
            </a:r>
            <a:r>
              <a:rPr lang="es-ES" sz="2200" b="1" u="sng" dirty="0"/>
              <a:t>objetivos</a:t>
            </a:r>
            <a:r>
              <a:rPr lang="es-ES" sz="2200" dirty="0"/>
              <a:t> y metas comunes compartidas por todos sus miembros, lo cual no excluye la posibilidad de que cada miembro pueda perseguir dentro del grupo algún tipo de objetivo personal. </a:t>
            </a:r>
          </a:p>
          <a:p>
            <a:pPr>
              <a:lnSpc>
                <a:spcPct val="150000"/>
              </a:lnSpc>
              <a:spcBef>
                <a:spcPts val="1200"/>
              </a:spcBef>
            </a:pPr>
            <a:r>
              <a:rPr lang="es-ES" sz="2200" dirty="0"/>
              <a:t>Una </a:t>
            </a:r>
            <a:r>
              <a:rPr lang="es-ES" sz="2200" b="1" u="sng" dirty="0"/>
              <a:t>diferenciación de roles </a:t>
            </a:r>
            <a:r>
              <a:rPr lang="es-ES" sz="2200" dirty="0"/>
              <a:t>específicos y una distribución jerarquizada de liderazgos, que otorga al grupo una estructura de funcionamiento a la hora de realizar las tareas y actividades marcadas para conseguir los objetivos.</a:t>
            </a:r>
          </a:p>
        </p:txBody>
      </p:sp>
    </p:spTree>
    <p:extLst>
      <p:ext uri="{BB962C8B-B14F-4D97-AF65-F5344CB8AC3E}">
        <p14:creationId xmlns:p14="http://schemas.microsoft.com/office/powerpoint/2010/main" val="2802242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b="1" dirty="0"/>
              <a:t>Componentes básicos de todo grupo:</a:t>
            </a:r>
            <a:endParaRPr lang="en-US" dirty="0"/>
          </a:p>
        </p:txBody>
      </p:sp>
      <p:sp>
        <p:nvSpPr>
          <p:cNvPr id="3" name="Marcador de contenido 2"/>
          <p:cNvSpPr>
            <a:spLocks noGrp="1"/>
          </p:cNvSpPr>
          <p:nvPr>
            <p:ph idx="1"/>
          </p:nvPr>
        </p:nvSpPr>
        <p:spPr>
          <a:xfrm>
            <a:off x="1463040" y="1545772"/>
            <a:ext cx="10175966" cy="4763588"/>
          </a:xfrm>
        </p:spPr>
        <p:txBody>
          <a:bodyPr>
            <a:noAutofit/>
          </a:bodyPr>
          <a:lstStyle/>
          <a:p>
            <a:pPr>
              <a:lnSpc>
                <a:spcPct val="150000"/>
              </a:lnSpc>
              <a:spcBef>
                <a:spcPts val="1200"/>
              </a:spcBef>
            </a:pPr>
            <a:r>
              <a:rPr lang="es-ES" sz="2200" dirty="0"/>
              <a:t>Un sistema de </a:t>
            </a:r>
            <a:r>
              <a:rPr lang="es-ES" sz="2200" b="1" u="sng" dirty="0"/>
              <a:t>normas o reglas</a:t>
            </a:r>
            <a:r>
              <a:rPr lang="es-ES" sz="2200" dirty="0"/>
              <a:t> que delimitan y regulan la conducta. Estas normas se amparan en un sistema de valores y creencias que son compartidos por todo el grupo como ideología propia.</a:t>
            </a:r>
          </a:p>
          <a:p>
            <a:pPr>
              <a:lnSpc>
                <a:spcPct val="150000"/>
              </a:lnSpc>
              <a:spcBef>
                <a:spcPts val="1200"/>
              </a:spcBef>
            </a:pPr>
            <a:r>
              <a:rPr lang="es-ES" sz="2200" dirty="0"/>
              <a:t>Una conciencia o </a:t>
            </a:r>
            <a:r>
              <a:rPr lang="es-ES" sz="2200" b="1" u="sng" dirty="0"/>
              <a:t>percepción de grupo </a:t>
            </a:r>
            <a:r>
              <a:rPr lang="es-ES" sz="2200" dirty="0"/>
              <a:t>por parte de sus integrantes, o sea, un sentimiento de “nosotros” que cohesiona al colectivo y lo diferencia de lo externo.</a:t>
            </a:r>
          </a:p>
          <a:p>
            <a:pPr>
              <a:lnSpc>
                <a:spcPct val="150000"/>
              </a:lnSpc>
              <a:spcBef>
                <a:spcPts val="1200"/>
              </a:spcBef>
            </a:pPr>
            <a:r>
              <a:rPr lang="es-ES" sz="2200" dirty="0"/>
              <a:t>Los miembros de un grupo encuentran gratificante pertenecer al mismo, ya que en él </a:t>
            </a:r>
            <a:r>
              <a:rPr lang="es-ES" sz="2200" b="1" u="sng" dirty="0"/>
              <a:t>satisfacen sus necesidades</a:t>
            </a:r>
            <a:r>
              <a:rPr lang="es-ES" sz="2200" dirty="0"/>
              <a:t>, inquietudes o intereses.</a:t>
            </a:r>
            <a:endParaRPr lang="en-US" sz="2200" dirty="0"/>
          </a:p>
        </p:txBody>
      </p:sp>
    </p:spTree>
    <p:extLst>
      <p:ext uri="{BB962C8B-B14F-4D97-AF65-F5344CB8AC3E}">
        <p14:creationId xmlns:p14="http://schemas.microsoft.com/office/powerpoint/2010/main" val="1422834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u="sng" dirty="0"/>
              <a:t>RESUMEN</a:t>
            </a:r>
            <a:br>
              <a:rPr lang="es-ES" dirty="0"/>
            </a:br>
            <a:r>
              <a:rPr lang="es-ES" b="1" dirty="0"/>
              <a:t>Componentes básicos de todo grupo:</a:t>
            </a:r>
            <a:endParaRPr lang="en-US" dirty="0"/>
          </a:p>
        </p:txBody>
      </p:sp>
      <p:sp>
        <p:nvSpPr>
          <p:cNvPr id="3" name="Marcador de contenido 2"/>
          <p:cNvSpPr>
            <a:spLocks noGrp="1"/>
          </p:cNvSpPr>
          <p:nvPr>
            <p:ph idx="1"/>
          </p:nvPr>
        </p:nvSpPr>
        <p:spPr/>
        <p:txBody>
          <a:bodyPr>
            <a:normAutofit/>
          </a:bodyPr>
          <a:lstStyle/>
          <a:p>
            <a:pPr>
              <a:spcBef>
                <a:spcPts val="1200"/>
              </a:spcBef>
            </a:pPr>
            <a:r>
              <a:rPr lang="es-ES" sz="2400" dirty="0"/>
              <a:t>INTERACCIÓN</a:t>
            </a:r>
          </a:p>
          <a:p>
            <a:pPr>
              <a:spcBef>
                <a:spcPts val="1200"/>
              </a:spcBef>
            </a:pPr>
            <a:r>
              <a:rPr lang="es-ES" sz="2400" dirty="0"/>
              <a:t>OBJETIVOS COMUNES</a:t>
            </a:r>
          </a:p>
          <a:p>
            <a:pPr>
              <a:spcBef>
                <a:spcPts val="1200"/>
              </a:spcBef>
            </a:pPr>
            <a:r>
              <a:rPr lang="es-ES" sz="2400" dirty="0"/>
              <a:t>DIFERENCIACIÓN DE ROLES</a:t>
            </a:r>
          </a:p>
          <a:p>
            <a:pPr>
              <a:spcBef>
                <a:spcPts val="1200"/>
              </a:spcBef>
            </a:pPr>
            <a:r>
              <a:rPr lang="es-ES" sz="2400" dirty="0"/>
              <a:t>NORMAS O REGLAS COMPARTIDAS</a:t>
            </a:r>
          </a:p>
          <a:p>
            <a:pPr>
              <a:spcBef>
                <a:spcPts val="1200"/>
              </a:spcBef>
            </a:pPr>
            <a:r>
              <a:rPr lang="es-ES" sz="2400" dirty="0"/>
              <a:t>PERCEPCIÓN DE GRUPO</a:t>
            </a:r>
          </a:p>
          <a:p>
            <a:pPr>
              <a:spcBef>
                <a:spcPts val="1200"/>
              </a:spcBef>
            </a:pPr>
            <a:r>
              <a:rPr lang="es-ES" sz="2400" dirty="0"/>
              <a:t>SATISFACCIÓN DE NECESIDADES</a:t>
            </a:r>
          </a:p>
          <a:p>
            <a:pPr>
              <a:spcBef>
                <a:spcPts val="1200"/>
              </a:spcBef>
            </a:pPr>
            <a:endParaRPr lang="es-ES" sz="2400" dirty="0"/>
          </a:p>
          <a:p>
            <a:pPr>
              <a:spcBef>
                <a:spcPts val="1200"/>
              </a:spcBef>
            </a:pPr>
            <a:endParaRPr lang="es-ES" sz="2400" dirty="0"/>
          </a:p>
          <a:p>
            <a:pPr>
              <a:spcBef>
                <a:spcPts val="1200"/>
              </a:spcBef>
            </a:pPr>
            <a:endParaRPr lang="en-US" sz="2400" dirty="0"/>
          </a:p>
        </p:txBody>
      </p:sp>
    </p:spTree>
    <p:extLst>
      <p:ext uri="{BB962C8B-B14F-4D97-AF65-F5344CB8AC3E}">
        <p14:creationId xmlns:p14="http://schemas.microsoft.com/office/powerpoint/2010/main" val="4266456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b="1" dirty="0"/>
              <a:t>Definición de grupo ofrecida por F. </a:t>
            </a:r>
            <a:r>
              <a:rPr lang="es-ES" b="1" dirty="0" err="1"/>
              <a:t>Munné</a:t>
            </a:r>
            <a:br>
              <a:rPr lang="es-ES" b="1" dirty="0"/>
            </a:br>
            <a:r>
              <a:rPr lang="en-US" b="1" dirty="0"/>
              <a:t>(1987)</a:t>
            </a:r>
          </a:p>
        </p:txBody>
      </p:sp>
      <p:sp>
        <p:nvSpPr>
          <p:cNvPr id="3" name="Marcador de contenido 2"/>
          <p:cNvSpPr>
            <a:spLocks noGrp="1"/>
          </p:cNvSpPr>
          <p:nvPr>
            <p:ph idx="1"/>
          </p:nvPr>
        </p:nvSpPr>
        <p:spPr>
          <a:xfrm>
            <a:off x="2589212" y="2133600"/>
            <a:ext cx="8553405" cy="3777622"/>
          </a:xfrm>
          <a:solidFill>
            <a:schemeClr val="accent5">
              <a:lumMod val="60000"/>
              <a:lumOff val="40000"/>
            </a:schemeClr>
          </a:solidFill>
        </p:spPr>
        <p:txBody>
          <a:bodyPr>
            <a:normAutofit/>
          </a:bodyPr>
          <a:lstStyle/>
          <a:p>
            <a:pPr marL="0" indent="0" algn="r">
              <a:lnSpc>
                <a:spcPct val="150000"/>
              </a:lnSpc>
              <a:spcAft>
                <a:spcPts val="600"/>
              </a:spcAft>
              <a:buNone/>
            </a:pPr>
            <a:r>
              <a:rPr lang="en-US" sz="2600" dirty="0"/>
              <a:t>…“</a:t>
            </a:r>
            <a:r>
              <a:rPr lang="en-US" sz="2600" dirty="0" err="1"/>
              <a:t>una</a:t>
            </a:r>
            <a:r>
              <a:rPr lang="en-US" sz="2600" dirty="0"/>
              <a:t> </a:t>
            </a:r>
            <a:r>
              <a:rPr lang="en-US" sz="2600" dirty="0" err="1"/>
              <a:t>pluralidad</a:t>
            </a:r>
            <a:r>
              <a:rPr lang="en-US" sz="2600" dirty="0"/>
              <a:t> de personas </a:t>
            </a:r>
            <a:r>
              <a:rPr lang="en-US" sz="2600" dirty="0" err="1"/>
              <a:t>interrelacionadas</a:t>
            </a:r>
            <a:r>
              <a:rPr lang="en-US" sz="2600" dirty="0"/>
              <a:t> para </a:t>
            </a:r>
            <a:r>
              <a:rPr lang="en-US" sz="2600" dirty="0" err="1"/>
              <a:t>desempeñar</a:t>
            </a:r>
            <a:r>
              <a:rPr lang="en-US" sz="2600" dirty="0"/>
              <a:t> </a:t>
            </a:r>
            <a:r>
              <a:rPr lang="es-ES" sz="2600" dirty="0"/>
              <a:t>cada una un determinado rol definitivo en función de unos objetivos comunes, más o menos compartidos y que interactúan según un sistema de pautas establecido”.</a:t>
            </a:r>
            <a:endParaRPr lang="en-US" sz="2600" dirty="0"/>
          </a:p>
        </p:txBody>
      </p:sp>
    </p:spTree>
    <p:extLst>
      <p:ext uri="{BB962C8B-B14F-4D97-AF65-F5344CB8AC3E}">
        <p14:creationId xmlns:p14="http://schemas.microsoft.com/office/powerpoint/2010/main" val="1775711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a:xfrm>
            <a:off x="2135724" y="702487"/>
            <a:ext cx="8911687" cy="1280890"/>
          </a:xfrm>
        </p:spPr>
        <p:txBody>
          <a:bodyPr/>
          <a:lstStyle/>
          <a:p>
            <a:r>
              <a:rPr lang="es-ES" b="1" dirty="0">
                <a:latin typeface="TimesNewRomanPS-Bold"/>
              </a:rPr>
              <a:t>Los grupos cumplen una doble función</a:t>
            </a:r>
            <a:r>
              <a:rPr lang="es-ES" dirty="0">
                <a:latin typeface="TimesNewRomanPS"/>
              </a:rPr>
              <a:t>:</a:t>
            </a:r>
            <a:endParaRPr lang="en-US" dirty="0"/>
          </a:p>
        </p:txBody>
      </p:sp>
      <p:sp>
        <p:nvSpPr>
          <p:cNvPr id="6" name="Marcador de contenido 5"/>
          <p:cNvSpPr>
            <a:spLocks noGrp="1"/>
          </p:cNvSpPr>
          <p:nvPr>
            <p:ph idx="1"/>
          </p:nvPr>
        </p:nvSpPr>
        <p:spPr>
          <a:xfrm>
            <a:off x="2132011" y="1983377"/>
            <a:ext cx="8915400" cy="3777622"/>
          </a:xfrm>
        </p:spPr>
        <p:txBody>
          <a:bodyPr>
            <a:normAutofit/>
          </a:bodyPr>
          <a:lstStyle/>
          <a:p>
            <a:r>
              <a:rPr lang="es-ES" sz="2800" dirty="0">
                <a:latin typeface="TimesNewRomanPS"/>
              </a:rPr>
              <a:t>La de satisfacer necesidades emocionales</a:t>
            </a:r>
          </a:p>
          <a:p>
            <a:r>
              <a:rPr lang="es-ES" sz="2800" dirty="0">
                <a:latin typeface="TimesNewRomanPS"/>
              </a:rPr>
              <a:t>La de ayudar a sus miembros a conseguir los objetivos que se han, o la de imponerles los que ha decidido la mayoría, las personas de más estatus o el propio líder.</a:t>
            </a:r>
            <a:endParaRPr lang="en-US" sz="2800" dirty="0"/>
          </a:p>
        </p:txBody>
      </p:sp>
    </p:spTree>
    <p:extLst>
      <p:ext uri="{BB962C8B-B14F-4D97-AF65-F5344CB8AC3E}">
        <p14:creationId xmlns:p14="http://schemas.microsoft.com/office/powerpoint/2010/main" val="4033845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r"/>
            <a:r>
              <a:rPr lang="es-ES" b="1" u="sng" dirty="0"/>
              <a:t>TIPOS DE GRUPOS</a:t>
            </a:r>
            <a:endParaRPr lang="en-US" b="1" u="sng" dirty="0"/>
          </a:p>
        </p:txBody>
      </p:sp>
      <p:sp>
        <p:nvSpPr>
          <p:cNvPr id="3" name="Marcador de contenido 2"/>
          <p:cNvSpPr>
            <a:spLocks noGrp="1"/>
          </p:cNvSpPr>
          <p:nvPr>
            <p:ph idx="1"/>
          </p:nvPr>
        </p:nvSpPr>
        <p:spPr>
          <a:xfrm>
            <a:off x="2416629" y="1776549"/>
            <a:ext cx="9087983" cy="4898571"/>
          </a:xfrm>
        </p:spPr>
        <p:txBody>
          <a:bodyPr>
            <a:normAutofit/>
          </a:bodyPr>
          <a:lstStyle/>
          <a:p>
            <a:pPr>
              <a:spcBef>
                <a:spcPts val="0"/>
              </a:spcBef>
              <a:spcAft>
                <a:spcPts val="1800"/>
              </a:spcAft>
            </a:pPr>
            <a:r>
              <a:rPr lang="es-ES" sz="2600" b="1" dirty="0"/>
              <a:t>PRIMARIOS</a:t>
            </a:r>
            <a:r>
              <a:rPr lang="es-ES" dirty="0"/>
              <a:t>: </a:t>
            </a:r>
            <a:r>
              <a:rPr lang="es-ES" sz="2200" dirty="0"/>
              <a:t>son aquellos formados espontáneamente y su fundamento es emocional o afectivo (de contacto directo). </a:t>
            </a:r>
          </a:p>
          <a:p>
            <a:pPr>
              <a:spcBef>
                <a:spcPts val="0"/>
              </a:spcBef>
              <a:spcAft>
                <a:spcPts val="1800"/>
              </a:spcAft>
            </a:pPr>
            <a:r>
              <a:rPr lang="es-ES" sz="2200" dirty="0"/>
              <a:t>Se caracterizan por una colaboración íntima donde las personas viven una fusión, una relación cálida de la que surge un nosotros. </a:t>
            </a:r>
          </a:p>
          <a:p>
            <a:pPr>
              <a:spcBef>
                <a:spcPts val="0"/>
              </a:spcBef>
              <a:spcAft>
                <a:spcPts val="1800"/>
              </a:spcAft>
            </a:pPr>
            <a:r>
              <a:rPr lang="es-ES" sz="2200" dirty="0"/>
              <a:t>Sus miembros interactúan directamente, cara a cara. </a:t>
            </a:r>
          </a:p>
          <a:p>
            <a:pPr>
              <a:spcBef>
                <a:spcPts val="0"/>
              </a:spcBef>
              <a:spcAft>
                <a:spcPts val="1800"/>
              </a:spcAft>
            </a:pPr>
            <a:r>
              <a:rPr lang="es-ES" sz="2200" dirty="0"/>
              <a:t>Sus miembros son conscientes de la existencia del grupo y de su pertenencia a él así como la presencia de los otros miembros.</a:t>
            </a:r>
          </a:p>
          <a:p>
            <a:pPr>
              <a:spcBef>
                <a:spcPts val="0"/>
              </a:spcBef>
              <a:spcAft>
                <a:spcPts val="1800"/>
              </a:spcAft>
            </a:pPr>
            <a:r>
              <a:rPr lang="es-ES" sz="2200" dirty="0"/>
              <a:t>EJEMPLOS: La Familia ,  compañeros de clase, grupos de iglesia.</a:t>
            </a:r>
            <a:endParaRPr lang="en-US" sz="2200" dirty="0"/>
          </a:p>
        </p:txBody>
      </p:sp>
    </p:spTree>
    <p:extLst>
      <p:ext uri="{BB962C8B-B14F-4D97-AF65-F5344CB8AC3E}">
        <p14:creationId xmlns:p14="http://schemas.microsoft.com/office/powerpoint/2010/main" val="2141194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a:latin typeface="TimesNewRomanPS"/>
              </a:rPr>
              <a:t>En resumidas cuentas, los grupos primarios estarían caracterizados por los siguientes:</a:t>
            </a:r>
          </a:p>
        </p:txBody>
      </p:sp>
      <p:sp>
        <p:nvSpPr>
          <p:cNvPr id="3" name="Marcador de contenido 2"/>
          <p:cNvSpPr>
            <a:spLocks noGrp="1"/>
          </p:cNvSpPr>
          <p:nvPr>
            <p:ph idx="1"/>
          </p:nvPr>
        </p:nvSpPr>
        <p:spPr/>
        <p:txBody>
          <a:bodyPr>
            <a:normAutofit/>
          </a:bodyPr>
          <a:lstStyle/>
          <a:p>
            <a:r>
              <a:rPr lang="es-ES" sz="2600" dirty="0">
                <a:latin typeface="TimesNewRomanPS"/>
              </a:rPr>
              <a:t>Relación cara a cara; </a:t>
            </a:r>
          </a:p>
          <a:p>
            <a:r>
              <a:rPr lang="es-ES" sz="2600" dirty="0">
                <a:latin typeface="TimesNewRomanPS"/>
              </a:rPr>
              <a:t>Relación desde la persona, no desde el rol; </a:t>
            </a:r>
          </a:p>
          <a:p>
            <a:r>
              <a:rPr lang="es-ES" sz="2600" dirty="0">
                <a:latin typeface="TimesNewRomanPS"/>
              </a:rPr>
              <a:t>Duración permanente; </a:t>
            </a:r>
          </a:p>
          <a:p>
            <a:r>
              <a:rPr lang="es-ES" sz="2600" dirty="0">
                <a:latin typeface="TimesNewRomanPS"/>
              </a:rPr>
              <a:t>Número reducido de miembros, y </a:t>
            </a:r>
          </a:p>
          <a:p>
            <a:r>
              <a:rPr lang="es-ES" sz="2600" dirty="0">
                <a:latin typeface="TimesNewRomanPS"/>
              </a:rPr>
              <a:t>Relativa intimidad </a:t>
            </a:r>
            <a:r>
              <a:rPr lang="en-US" sz="2600" dirty="0">
                <a:latin typeface="TimesNewRomanPS"/>
              </a:rPr>
              <a:t>entre </a:t>
            </a:r>
            <a:r>
              <a:rPr lang="en-US" sz="2600" dirty="0" err="1">
                <a:latin typeface="TimesNewRomanPS"/>
              </a:rPr>
              <a:t>ellos</a:t>
            </a:r>
            <a:r>
              <a:rPr lang="en-US" sz="2600" dirty="0">
                <a:latin typeface="TimesNewRomanPS"/>
              </a:rPr>
              <a:t>.</a:t>
            </a:r>
            <a:endParaRPr lang="en-US" sz="2600" dirty="0"/>
          </a:p>
        </p:txBody>
      </p:sp>
    </p:spTree>
    <p:extLst>
      <p:ext uri="{BB962C8B-B14F-4D97-AF65-F5344CB8AC3E}">
        <p14:creationId xmlns:p14="http://schemas.microsoft.com/office/powerpoint/2010/main" val="552764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r"/>
            <a:r>
              <a:rPr lang="es-ES" b="1" u="sng" dirty="0"/>
              <a:t>TIPOS DE GRUPOS</a:t>
            </a:r>
            <a:endParaRPr lang="en-US" dirty="0"/>
          </a:p>
        </p:txBody>
      </p:sp>
      <p:sp>
        <p:nvSpPr>
          <p:cNvPr id="3" name="Marcador de contenido 2"/>
          <p:cNvSpPr>
            <a:spLocks noGrp="1"/>
          </p:cNvSpPr>
          <p:nvPr>
            <p:ph idx="1"/>
          </p:nvPr>
        </p:nvSpPr>
        <p:spPr>
          <a:xfrm>
            <a:off x="2589212" y="1658983"/>
            <a:ext cx="8915400" cy="5029199"/>
          </a:xfrm>
        </p:spPr>
        <p:txBody>
          <a:bodyPr>
            <a:normAutofit/>
          </a:bodyPr>
          <a:lstStyle/>
          <a:p>
            <a:r>
              <a:rPr lang="es-ES" sz="2600" b="1" dirty="0"/>
              <a:t>SECUNDARIOS: </a:t>
            </a:r>
            <a:r>
              <a:rPr lang="es-ES" sz="2200" dirty="0"/>
              <a:t>son aquellos formados deliberadamente, porque sus integrantes quieren pertenecer a él de forma consciente. </a:t>
            </a:r>
          </a:p>
          <a:p>
            <a:r>
              <a:rPr lang="es-ES" sz="2200" dirty="0"/>
              <a:t>Se caracterizan por una relación más formal o funcional, por lo que suelen ser fríos e impersonales (de contacto indirecto). </a:t>
            </a:r>
          </a:p>
          <a:p>
            <a:r>
              <a:rPr lang="es-ES" sz="2200" dirty="0"/>
              <a:t>Su centro es la tarea o trabajo a realizar, la resolución de un problema concreto, etc. </a:t>
            </a:r>
          </a:p>
          <a:p>
            <a:r>
              <a:rPr lang="es-ES" sz="2200" dirty="0"/>
              <a:t>Buscan un interés común externo, y el grupo no es un fin en sí mismo, sino un medio para lograr esos fines.</a:t>
            </a:r>
          </a:p>
          <a:p>
            <a:r>
              <a:rPr lang="es-ES" sz="2200" dirty="0"/>
              <a:t>EJEMPLO.: una comisión empresarial, un grupo de trabajo, una asociación, una cooperativa, un </a:t>
            </a:r>
            <a:r>
              <a:rPr lang="en-US" sz="2200" dirty="0" err="1"/>
              <a:t>sindicato</a:t>
            </a:r>
            <a:r>
              <a:rPr lang="en-US" sz="2200" dirty="0"/>
              <a:t>, etc.</a:t>
            </a:r>
            <a:endParaRPr lang="en-US" sz="2200" b="1" dirty="0"/>
          </a:p>
        </p:txBody>
      </p:sp>
    </p:spTree>
    <p:extLst>
      <p:ext uri="{BB962C8B-B14F-4D97-AF65-F5344CB8AC3E}">
        <p14:creationId xmlns:p14="http://schemas.microsoft.com/office/powerpoint/2010/main" val="693749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2638697" y="731838"/>
            <a:ext cx="7924800" cy="1143000"/>
          </a:xfrm>
        </p:spPr>
        <p:txBody>
          <a:bodyPr>
            <a:normAutofit fontScale="90000"/>
          </a:bodyPr>
          <a:lstStyle/>
          <a:p>
            <a:pPr algn="ctr"/>
            <a:r>
              <a:rPr lang="es-ES" b="1" dirty="0"/>
              <a:t>Condiciones para hacer posible el paso de agrupamiento a grupo</a:t>
            </a:r>
            <a:endParaRPr lang="es-PY" b="1" dirty="0"/>
          </a:p>
        </p:txBody>
      </p:sp>
      <p:sp>
        <p:nvSpPr>
          <p:cNvPr id="5" name="2 Marcador de contenido"/>
          <p:cNvSpPr>
            <a:spLocks noGrp="1"/>
          </p:cNvSpPr>
          <p:nvPr>
            <p:ph sz="quarter" idx="4294967295"/>
          </p:nvPr>
        </p:nvSpPr>
        <p:spPr>
          <a:xfrm>
            <a:off x="2207623" y="2253343"/>
            <a:ext cx="9640389" cy="4199708"/>
          </a:xfrm>
          <a:prstGeom prst="rect">
            <a:avLst/>
          </a:prstGeom>
        </p:spPr>
        <p:txBody>
          <a:bodyPr>
            <a:normAutofit/>
          </a:bodyPr>
          <a:lstStyle/>
          <a:p>
            <a:pPr>
              <a:spcAft>
                <a:spcPts val="1200"/>
              </a:spcAft>
            </a:pPr>
            <a:r>
              <a:rPr lang="es-ES" sz="2800" b="1" dirty="0"/>
              <a:t>El interés común:</a:t>
            </a:r>
          </a:p>
          <a:p>
            <a:pPr marL="0" indent="0">
              <a:spcAft>
                <a:spcPts val="1200"/>
              </a:spcAft>
              <a:buNone/>
            </a:pPr>
            <a:r>
              <a:rPr lang="es-ES" sz="2200" dirty="0"/>
              <a:t>Cuando el interés es lo bastante fuerte los participantes lo interiorizan y se hacen cargo de ello, pero si al contrario el interés es débil se polarizan los distintos esfuerzos y no se concreta lo suficiente para alcanzar algo, por lo que tiende a extinguirse.</a:t>
            </a:r>
          </a:p>
          <a:p>
            <a:pPr marL="0" indent="0">
              <a:spcAft>
                <a:spcPts val="1200"/>
              </a:spcAft>
              <a:buNone/>
            </a:pPr>
            <a:r>
              <a:rPr lang="es-ES" sz="2200" dirty="0"/>
              <a:t>Por tanto, es importante que antes de empezar una actividad de grupo, </a:t>
            </a:r>
            <a:r>
              <a:rPr lang="es-ES" sz="2200" b="1" dirty="0"/>
              <a:t>el objetivo </a:t>
            </a:r>
            <a:r>
              <a:rPr lang="es-ES" sz="2200" dirty="0"/>
              <a:t>que ésta se fije sea percibido y aceptado claramente por los miembros del grupo.</a:t>
            </a:r>
          </a:p>
        </p:txBody>
      </p:sp>
    </p:spTree>
    <p:extLst>
      <p:ext uri="{BB962C8B-B14F-4D97-AF65-F5344CB8AC3E}">
        <p14:creationId xmlns:p14="http://schemas.microsoft.com/office/powerpoint/2010/main" val="37027908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sz="quarter" idx="4294967295"/>
          </p:nvPr>
        </p:nvSpPr>
        <p:spPr>
          <a:xfrm>
            <a:off x="2129246" y="745920"/>
            <a:ext cx="8934994" cy="5289119"/>
          </a:xfrm>
          <a:prstGeom prst="rect">
            <a:avLst/>
          </a:prstGeom>
        </p:spPr>
        <p:txBody>
          <a:bodyPr>
            <a:noAutofit/>
          </a:bodyPr>
          <a:lstStyle/>
          <a:p>
            <a:r>
              <a:rPr lang="es-ES" sz="3000" b="1" dirty="0"/>
              <a:t>Las comunicaciones</a:t>
            </a:r>
          </a:p>
          <a:p>
            <a:pPr marL="0" indent="0">
              <a:buNone/>
            </a:pPr>
            <a:endParaRPr lang="es-ES" sz="2800" b="1" dirty="0"/>
          </a:p>
          <a:p>
            <a:pPr marL="0" indent="0">
              <a:buNone/>
            </a:pPr>
            <a:r>
              <a:rPr lang="es-ES" sz="2400" dirty="0"/>
              <a:t>Se hace necesario pasar de las comunicaciones indirectas a las comunicaciones indirectas.</a:t>
            </a:r>
          </a:p>
          <a:p>
            <a:pPr marL="0" indent="0">
              <a:buNone/>
            </a:pPr>
            <a:r>
              <a:rPr lang="es-ES" sz="2400" dirty="0"/>
              <a:t>Si los participantes adoptan una actitud pasiva ante las intervenciones iniciales, no es forzosamente porque no tengan nada que decir: ello se debe a menudo a la dinámica que están viviendo dentro de sí mismos</a:t>
            </a:r>
            <a:r>
              <a:rPr lang="es-PY" sz="2400" dirty="0"/>
              <a:t>. </a:t>
            </a:r>
          </a:p>
          <a:p>
            <a:pPr marL="0" indent="0">
              <a:buNone/>
            </a:pPr>
            <a:r>
              <a:rPr lang="es-PY" sz="2400" dirty="0"/>
              <a:t>Cuanto más importante es el grupo, más necesidad experimentan los participantes de entrar en contacto con los demás y de situarse con relación a ellos</a:t>
            </a:r>
            <a:r>
              <a:rPr lang="es-ES" sz="2400" dirty="0"/>
              <a:t>.</a:t>
            </a:r>
          </a:p>
          <a:p>
            <a:pPr marL="0" indent="0">
              <a:buNone/>
            </a:pPr>
            <a:r>
              <a:rPr lang="es-ES" sz="2400" dirty="0"/>
              <a:t>  </a:t>
            </a:r>
            <a:endParaRPr lang="es-PY" sz="2400" dirty="0"/>
          </a:p>
        </p:txBody>
      </p:sp>
    </p:spTree>
    <p:extLst>
      <p:ext uri="{BB962C8B-B14F-4D97-AF65-F5344CB8AC3E}">
        <p14:creationId xmlns:p14="http://schemas.microsoft.com/office/powerpoint/2010/main" val="1422763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2 Marcador de contenido"/>
          <p:cNvSpPr>
            <a:spLocks noGrp="1"/>
          </p:cNvSpPr>
          <p:nvPr>
            <p:ph sz="quarter" idx="4294967295"/>
          </p:nvPr>
        </p:nvSpPr>
        <p:spPr>
          <a:xfrm>
            <a:off x="2111827" y="1371600"/>
            <a:ext cx="9265921" cy="4944291"/>
          </a:xfrm>
          <a:prstGeom prst="rect">
            <a:avLst/>
          </a:prstGeom>
        </p:spPr>
        <p:txBody>
          <a:bodyPr>
            <a:normAutofit/>
          </a:bodyPr>
          <a:lstStyle/>
          <a:p>
            <a:r>
              <a:rPr lang="es-PY" sz="3000" b="1" dirty="0"/>
              <a:t>El clima</a:t>
            </a:r>
          </a:p>
          <a:p>
            <a:pPr marL="0" indent="0">
              <a:buNone/>
            </a:pPr>
            <a:r>
              <a:rPr lang="es-PY" sz="2400" dirty="0"/>
              <a:t>Para que se realice transformación del agrupamiento en grupo, es necesario que todos los participantes acepten avanzar determinado ritmo, que permita a cada uno un ajuste socio-afectivo satisfactorio con relación al conjunto del grupo. </a:t>
            </a:r>
          </a:p>
          <a:p>
            <a:pPr marL="0" indent="0">
              <a:buNone/>
            </a:pPr>
            <a:r>
              <a:rPr lang="es-PY" sz="2400" dirty="0"/>
              <a:t>El clima incluye la capacidad del grupo de ser flexible, creativo y capaz de cambiar, de organizarse y reorganizarse constantemente. De distribuir las tareas y funciones a sus miembros, utilizar sus competencias, es decir, sus desigualdades y elegir un jefe que actuará como órgano de integración del grupo.</a:t>
            </a:r>
          </a:p>
        </p:txBody>
      </p:sp>
    </p:spTree>
    <p:extLst>
      <p:ext uri="{BB962C8B-B14F-4D97-AF65-F5344CB8AC3E}">
        <p14:creationId xmlns:p14="http://schemas.microsoft.com/office/powerpoint/2010/main" val="2573634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2216330" y="653460"/>
            <a:ext cx="8665029" cy="926251"/>
          </a:xfrm>
        </p:spPr>
        <p:txBody>
          <a:bodyPr/>
          <a:lstStyle/>
          <a:p>
            <a:r>
              <a:rPr lang="es-PY" sz="3200" b="1" dirty="0"/>
              <a:t>Las</a:t>
            </a:r>
            <a:r>
              <a:rPr lang="es-PY" b="1" dirty="0"/>
              <a:t> predisposiciones</a:t>
            </a:r>
          </a:p>
        </p:txBody>
      </p:sp>
      <p:sp>
        <p:nvSpPr>
          <p:cNvPr id="5" name="2 Marcador de contenido"/>
          <p:cNvSpPr>
            <a:spLocks noGrp="1"/>
          </p:cNvSpPr>
          <p:nvPr>
            <p:ph sz="quarter" idx="4294967295"/>
          </p:nvPr>
        </p:nvSpPr>
        <p:spPr>
          <a:xfrm>
            <a:off x="2216330" y="1791599"/>
            <a:ext cx="8665029" cy="4687578"/>
          </a:xfrm>
          <a:prstGeom prst="rect">
            <a:avLst/>
          </a:prstGeom>
        </p:spPr>
        <p:txBody>
          <a:bodyPr>
            <a:normAutofit/>
          </a:bodyPr>
          <a:lstStyle/>
          <a:p>
            <a:r>
              <a:rPr lang="es-PY" sz="2000" dirty="0"/>
              <a:t>Las personas que forman parte de un grupo constituyen la principal fuente de energía de que dispone un grupo de tarea. Esta energía se estructura de forma diferenciada según las características de cada miembro del grupo.  Cada uno posee sus propias habilidades, intereses, motivaciones, conocimientos y antecedentes, elementos todos que determinarán la utilidad de su propia energía.</a:t>
            </a:r>
          </a:p>
          <a:p>
            <a:r>
              <a:rPr lang="es-PY" sz="2000" dirty="0"/>
              <a:t>El proceso de tratamiento  global de estas energías es un proceso de comunicación, de intercambio, de interacción o de transacción. El grupo es un mercado en el que se llevan a cabo ofertas y demandas. </a:t>
            </a:r>
          </a:p>
          <a:p>
            <a:r>
              <a:rPr lang="es-PY" sz="2000" dirty="0"/>
              <a:t>Las ofertas y demandas surgen gracias al proceso de simbolización que traslada a las informaciones desde el estado de sentimientos al estado de significaciones comunicables.</a:t>
            </a:r>
          </a:p>
        </p:txBody>
      </p:sp>
    </p:spTree>
    <p:extLst>
      <p:ext uri="{BB962C8B-B14F-4D97-AF65-F5344CB8AC3E}">
        <p14:creationId xmlns:p14="http://schemas.microsoft.com/office/powerpoint/2010/main" val="812096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2514547" y="2648853"/>
            <a:ext cx="8911687" cy="1280890"/>
          </a:xfrm>
          <a:solidFill>
            <a:schemeClr val="accent1">
              <a:lumMod val="75000"/>
            </a:schemeClr>
          </a:solidFill>
        </p:spPr>
        <p:txBody>
          <a:bodyPr anchor="ctr"/>
          <a:lstStyle/>
          <a:p>
            <a:pPr algn="ctr"/>
            <a:r>
              <a:rPr lang="es-ES" b="1">
                <a:solidFill>
                  <a:schemeClr val="bg1"/>
                </a:solidFill>
              </a:rPr>
              <a:t>GRACIAS POR SU ATENCIÓN!!!</a:t>
            </a:r>
            <a:endParaRPr lang="en-US" b="1">
              <a:solidFill>
                <a:schemeClr val="bg1"/>
              </a:solidFill>
            </a:endParaRPr>
          </a:p>
        </p:txBody>
      </p:sp>
    </p:spTree>
    <p:extLst>
      <p:ext uri="{BB962C8B-B14F-4D97-AF65-F5344CB8AC3E}">
        <p14:creationId xmlns:p14="http://schemas.microsoft.com/office/powerpoint/2010/main" val="3483977185"/>
      </p:ext>
    </p:extLst>
  </p:cSld>
  <p:clrMapOvr>
    <a:masterClrMapping/>
  </p:clrMapOvr>
</p:sld>
</file>

<file path=ppt/theme/theme1.xml><?xml version="1.0" encoding="utf-8"?>
<a:theme xmlns:a="http://schemas.openxmlformats.org/drawingml/2006/main" name="Espiral">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26178</TotalTime>
  <Words>1251</Words>
  <Application>Microsoft Office PowerPoint</Application>
  <PresentationFormat>Widescreen</PresentationFormat>
  <Paragraphs>88</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Espiral</vt:lpstr>
      <vt:lpstr>DESARROLLO INTERPERSONAL Y GRUPAL I</vt:lpstr>
      <vt:lpstr>Dinámica de CONOCIMIENTO MUTUO  </vt:lpstr>
      <vt:lpstr>TÉCNICA DE FORMACIÓN DE GRUPO</vt:lpstr>
      <vt:lpstr>PowerPoint Presentation</vt:lpstr>
      <vt:lpstr>UNIDAD I</vt:lpstr>
      <vt:lpstr>COMPARTIMOS LA SIGUIENTE REFLEXIÓN </vt:lpstr>
      <vt:lpstr>RESPONDEMOS A LA PREGUNTA:</vt:lpstr>
      <vt:lpstr>John Levine y Richard Moreland (1998), </vt:lpstr>
      <vt:lpstr>Vivir solo, es imposible. Vivir en pareja, muy difícil. Vivir en grupo, muy difícil también, pero sabiéndolo mirar resulta apasionante.             (Francia– Mata, 1992).</vt:lpstr>
      <vt:lpstr>Para Levine y Moreland:</vt:lpstr>
      <vt:lpstr>Importancia del conocimiento de lo grupal  El ser humano se construye en las relaciones con los otros seres humanos.</vt:lpstr>
      <vt:lpstr>Componentes básicos de todo grupo:</vt:lpstr>
      <vt:lpstr>Componentes básicos de todo grupo:</vt:lpstr>
      <vt:lpstr>RESUMEN Componentes básicos de todo grupo:</vt:lpstr>
      <vt:lpstr>Definición de grupo ofrecida por F. Munné (1987)</vt:lpstr>
      <vt:lpstr>Los grupos cumplen una doble función:</vt:lpstr>
      <vt:lpstr>TIPOS DE GRUPOS</vt:lpstr>
      <vt:lpstr>En resumidas cuentas, los grupos primarios estarían caracterizados por los siguientes:</vt:lpstr>
      <vt:lpstr>TIPOS DE GRUPOS</vt:lpstr>
      <vt:lpstr>Condiciones para hacer posible el paso de agrupamiento a grupo</vt:lpstr>
      <vt:lpstr>PowerPoint Presentation</vt:lpstr>
      <vt:lpstr>PowerPoint Presentation</vt:lpstr>
      <vt:lpstr>Las predisposiciones</vt:lpstr>
      <vt:lpstr>GRACIAS POR SU ATENCIÓN!!!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INTERPERSONAL Y GRUPAL I</dc:title>
  <dc:creator>Monica Silva</dc:creator>
  <cp:lastModifiedBy>Lourdes Mariana Velilla Cabrera</cp:lastModifiedBy>
  <cp:revision>43</cp:revision>
  <dcterms:created xsi:type="dcterms:W3CDTF">2024-04-29T20:08:25Z</dcterms:created>
  <dcterms:modified xsi:type="dcterms:W3CDTF">2025-06-24T14:05:40Z</dcterms:modified>
</cp:coreProperties>
</file>