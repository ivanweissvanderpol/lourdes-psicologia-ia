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9"/>
  </p:notesMasterIdLst>
  <p:sldIdLst>
    <p:sldId id="346" r:id="rId2"/>
    <p:sldId id="341" r:id="rId3"/>
    <p:sldId id="342" r:id="rId4"/>
    <p:sldId id="343" r:id="rId5"/>
    <p:sldId id="344" r:id="rId6"/>
    <p:sldId id="345" r:id="rId7"/>
    <p:sldId id="264" r:id="rId8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10"/>
    </p:embeddedFont>
    <p:embeddedFont>
      <p:font typeface="Comic Sans MS" panose="030F0702030302020204" pitchFamily="66" charset="0"/>
      <p:regular r:id="rId11"/>
      <p:bold r:id="rId12"/>
      <p:italic r:id="rId13"/>
      <p:boldItalic r:id="rId14"/>
    </p:embeddedFont>
    <p:embeddedFont>
      <p:font typeface="Lato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A9C193-9045-405E-8656-0C2F0177A2BE}">
  <a:tblStyle styleId="{0DA9C193-9045-405E-8656-0C2F0177A2BE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533D004-43F3-4105-BB0A-8D5D0FD8EAA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60"/>
  </p:normalViewPr>
  <p:slideViewPr>
    <p:cSldViewPr snapToGrid="0">
      <p:cViewPr varScale="1">
        <p:scale>
          <a:sx n="92" d="100"/>
          <a:sy n="9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ad96be1b4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ad96be1b4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5259600" y="527275"/>
            <a:ext cx="3198600" cy="25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685800" y="2561000"/>
            <a:ext cx="4931100" cy="20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685800" y="1409625"/>
            <a:ext cx="3231000" cy="20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685800" y="3458875"/>
            <a:ext cx="3231000" cy="11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7_1">
    <p:bg>
      <p:bgPr>
        <a:solidFill>
          <a:schemeClr val="accen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78600" y="527275"/>
            <a:ext cx="77868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78600" y="1657100"/>
            <a:ext cx="7786800" cy="2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6" r:id="rId2"/>
    <p:sldLayoutId id="2147483662" r:id="rId3"/>
    <p:sldLayoutId id="214748367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EA4335"/>
          </p15:clr>
        </p15:guide>
        <p15:guide id="2" orient="horz" pos="332">
          <p15:clr>
            <a:srgbClr val="EA4335"/>
          </p15:clr>
        </p15:guide>
        <p15:guide id="3" pos="5328">
          <p15:clr>
            <a:srgbClr val="EA4335"/>
          </p15:clr>
        </p15:guide>
        <p15:guide id="4" orient="horz" pos="2908">
          <p15:clr>
            <a:srgbClr val="EA4335"/>
          </p15:clr>
        </p15:guide>
        <p15:guide id="5" orient="horz" pos="739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8217" y="381802"/>
            <a:ext cx="4684502" cy="1945762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Ejercicios sobre técnicas asertivas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438217" y="2421081"/>
            <a:ext cx="4684502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Google Shape;2276;p57"/>
          <p:cNvPicPr preferRelativeResize="0"/>
          <p:nvPr/>
        </p:nvPicPr>
        <p:blipFill rotWithShape="1">
          <a:blip r:embed="rId2">
            <a:alphaModFix/>
          </a:blip>
          <a:srcRect t="11708" b="17967"/>
          <a:stretch/>
        </p:blipFill>
        <p:spPr>
          <a:xfrm>
            <a:off x="5507182" y="2327564"/>
            <a:ext cx="3416944" cy="2654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6524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0944" y="488372"/>
            <a:ext cx="8167256" cy="531802"/>
          </a:xfrm>
          <a:solidFill>
            <a:schemeClr val="accent1"/>
          </a:solidFill>
        </p:spPr>
        <p:txBody>
          <a:bodyPr/>
          <a:lstStyle/>
          <a:p>
            <a:pPr algn="l"/>
            <a:r>
              <a:rPr lang="es-ES" sz="18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Situación 1 </a:t>
            </a:r>
            <a:r>
              <a:rPr lang="es-MX" sz="18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Un amigo te insiste para ir a una fiesta y vos no </a:t>
            </a:r>
            <a:r>
              <a:rPr lang="es-MX" sz="1800" dirty="0" err="1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querés</a:t>
            </a:r>
            <a:r>
              <a:rPr lang="es-MX" sz="18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 ir</a:t>
            </a:r>
            <a:r>
              <a:rPr lang="es-ES" sz="18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:</a:t>
            </a:r>
            <a:r>
              <a:rPr lang="es-ES" sz="30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 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893617" y="1322715"/>
            <a:ext cx="5039591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 “Dale, no seas aguafiestas, </a:t>
            </a:r>
            <a:r>
              <a:rPr lang="es-MX" sz="17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vení</a:t>
            </a:r>
            <a:r>
              <a:rPr lang="es-MX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 un rato.”</a:t>
            </a:r>
          </a:p>
        </p:txBody>
      </p:sp>
      <p:sp>
        <p:nvSpPr>
          <p:cNvPr id="4" name="Google Shape;135;p29"/>
          <p:cNvSpPr/>
          <p:nvPr/>
        </p:nvSpPr>
        <p:spPr>
          <a:xfrm>
            <a:off x="5465618" y="4543039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8;p29"/>
          <p:cNvSpPr/>
          <p:nvPr/>
        </p:nvSpPr>
        <p:spPr>
          <a:xfrm>
            <a:off x="8725500" y="242777"/>
            <a:ext cx="418500" cy="26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893617" y="1776256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dirty="0">
                <a:latin typeface="Comic Sans MS" panose="030F0702030302020204" pitchFamily="66" charset="0"/>
                <a:ea typeface="Times New Roman" panose="02020603050405020304" pitchFamily="18" charset="0"/>
              </a:rPr>
              <a:t>BANCO DE NIEBLA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893617" y="2455761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DISCO RAYADO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5813139" y="1889054"/>
            <a:ext cx="27787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PY" dirty="0">
                <a:latin typeface="Comic Sans MS" panose="030F0702030302020204" pitchFamily="66" charset="0"/>
                <a:ea typeface="Times New Roman" panose="02020603050405020304" pitchFamily="18" charset="0"/>
              </a:rPr>
              <a:t>-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“¡Vamos, aunque sea un ratito!”</a:t>
            </a: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-“Gracias por invitarme, pero hoy prefiero descansar en casa.”</a:t>
            </a:r>
          </a:p>
        </p:txBody>
      </p:sp>
      <p:cxnSp>
        <p:nvCxnSpPr>
          <p:cNvPr id="11" name="Conector angular 10"/>
          <p:cNvCxnSpPr>
            <a:endCxn id="9" idx="1"/>
          </p:cNvCxnSpPr>
          <p:nvPr/>
        </p:nvCxnSpPr>
        <p:spPr>
          <a:xfrm rot="5400000" flipH="1" flipV="1">
            <a:off x="5454726" y="2453944"/>
            <a:ext cx="369305" cy="34752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/>
        </p:nvSpPr>
        <p:spPr>
          <a:xfrm>
            <a:off x="893617" y="3438036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 INTERROGACIÓN NEGATIVA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893617" y="2084033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dirty="0">
                <a:latin typeface="Comic Sans MS" panose="030F0702030302020204" pitchFamily="66" charset="0"/>
                <a:ea typeface="Times New Roman" panose="02020603050405020304" pitchFamily="18" charset="0"/>
              </a:rPr>
              <a:t>“Puede ser que esté menos sociable últimamente.”</a:t>
            </a:r>
            <a:endParaRPr lang="es-MX" dirty="0"/>
          </a:p>
        </p:txBody>
      </p:sp>
      <p:sp>
        <p:nvSpPr>
          <p:cNvPr id="14" name="Rectángulo 13"/>
          <p:cNvSpPr/>
          <p:nvPr/>
        </p:nvSpPr>
        <p:spPr>
          <a:xfrm>
            <a:off x="893617" y="2758531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/>
              <a:t>“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Gracias por invitarme, pero hoy prefiero descansar en casa.”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893617" y="3763216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“¿Crees que arruinaría el encuentro si no voy? ¿Te molesta que esta vez diga que no?”</a:t>
            </a:r>
          </a:p>
        </p:txBody>
      </p:sp>
    </p:spTree>
    <p:extLst>
      <p:ext uri="{BB962C8B-B14F-4D97-AF65-F5344CB8AC3E}">
        <p14:creationId xmlns:p14="http://schemas.microsoft.com/office/powerpoint/2010/main" val="184801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0943" y="488372"/>
            <a:ext cx="8215281" cy="531802"/>
          </a:xfrm>
          <a:solidFill>
            <a:schemeClr val="accent1"/>
          </a:solidFill>
        </p:spPr>
        <p:txBody>
          <a:bodyPr/>
          <a:lstStyle/>
          <a:p>
            <a:pPr algn="l"/>
            <a:r>
              <a:rPr lang="es-MX" sz="14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Un compañero te dice en tono sarcástico “Uy, qué raro en vos ser responsable.”</a:t>
            </a:r>
            <a:r>
              <a:rPr lang="es-ES" sz="14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: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 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893617" y="1322715"/>
            <a:ext cx="5039591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 “Uy, qué raro en vos ser responsable.”</a:t>
            </a:r>
          </a:p>
        </p:txBody>
      </p:sp>
      <p:sp>
        <p:nvSpPr>
          <p:cNvPr id="4" name="Google Shape;135;p29"/>
          <p:cNvSpPr/>
          <p:nvPr/>
        </p:nvSpPr>
        <p:spPr>
          <a:xfrm>
            <a:off x="5465618" y="4543039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8;p29"/>
          <p:cNvSpPr/>
          <p:nvPr/>
        </p:nvSpPr>
        <p:spPr>
          <a:xfrm>
            <a:off x="8725500" y="242777"/>
            <a:ext cx="418500" cy="26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893617" y="1776256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dirty="0">
                <a:latin typeface="Comic Sans MS" panose="030F0702030302020204" pitchFamily="66" charset="0"/>
                <a:ea typeface="Times New Roman" panose="02020603050405020304" pitchFamily="18" charset="0"/>
              </a:rPr>
              <a:t>BANCO DE NIEBLA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893617" y="2538889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DISCO RAYADO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5813139" y="1889054"/>
            <a:ext cx="27787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PY" dirty="0"/>
              <a:t>-</a:t>
            </a:r>
            <a:r>
              <a:rPr lang="es-MX" dirty="0"/>
              <a:t>“¿Vos? No lo creo.”</a:t>
            </a:r>
          </a:p>
          <a:p>
            <a:pPr algn="just">
              <a:spcAft>
                <a:spcPts val="1200"/>
              </a:spcAft>
            </a:pPr>
            <a:r>
              <a:rPr lang="es-MX" dirty="0"/>
              <a:t>“Estoy tratando de organizarme mejor.”</a:t>
            </a:r>
          </a:p>
        </p:txBody>
      </p:sp>
      <p:cxnSp>
        <p:nvCxnSpPr>
          <p:cNvPr id="11" name="Conector angular 10"/>
          <p:cNvCxnSpPr>
            <a:endCxn id="9" idx="1"/>
          </p:cNvCxnSpPr>
          <p:nvPr/>
        </p:nvCxnSpPr>
        <p:spPr>
          <a:xfrm rot="5400000" flipH="1" flipV="1">
            <a:off x="5400865" y="2400083"/>
            <a:ext cx="477026" cy="34752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/>
        </p:nvSpPr>
        <p:spPr>
          <a:xfrm>
            <a:off x="893617" y="3438036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 INTERROGACIÓN NEGATIVA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893617" y="2084033"/>
            <a:ext cx="4659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“Puede ser que no siempre haya sido tan responsable.”</a:t>
            </a:r>
            <a:endParaRPr lang="es-MX" dirty="0"/>
          </a:p>
        </p:txBody>
      </p:sp>
      <p:sp>
        <p:nvSpPr>
          <p:cNvPr id="14" name="Rectángulo 13"/>
          <p:cNvSpPr/>
          <p:nvPr/>
        </p:nvSpPr>
        <p:spPr>
          <a:xfrm>
            <a:off x="893617" y="2841659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“Estoy tratando de organizarme mejor.”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893617" y="3763216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“¿Te sorprende que esté cambiando? ¿Te parece que soy una persona irresponsable?”</a:t>
            </a:r>
          </a:p>
        </p:txBody>
      </p:sp>
    </p:spTree>
    <p:extLst>
      <p:ext uri="{BB962C8B-B14F-4D97-AF65-F5344CB8AC3E}">
        <p14:creationId xmlns:p14="http://schemas.microsoft.com/office/powerpoint/2010/main" val="318931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0944" y="488372"/>
            <a:ext cx="8167256" cy="531802"/>
          </a:xfrm>
          <a:solidFill>
            <a:schemeClr val="accent1"/>
          </a:solidFill>
        </p:spPr>
        <p:txBody>
          <a:bodyPr/>
          <a:lstStyle/>
          <a:p>
            <a:pPr algn="l"/>
            <a:r>
              <a:rPr lang="es-MX" sz="18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Tu pareja te dice: “Parece que no te importa lo que me pasa.”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893617" y="1322715"/>
            <a:ext cx="5039591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 “Parece que no te importa lo que me pasa.”</a:t>
            </a:r>
          </a:p>
        </p:txBody>
      </p:sp>
      <p:sp>
        <p:nvSpPr>
          <p:cNvPr id="4" name="Google Shape;135;p29"/>
          <p:cNvSpPr/>
          <p:nvPr/>
        </p:nvSpPr>
        <p:spPr>
          <a:xfrm>
            <a:off x="5465618" y="4543039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8;p29"/>
          <p:cNvSpPr/>
          <p:nvPr/>
        </p:nvSpPr>
        <p:spPr>
          <a:xfrm>
            <a:off x="8725500" y="242777"/>
            <a:ext cx="418500" cy="26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CuadroTexto 6"/>
          <p:cNvSpPr txBox="1"/>
          <p:nvPr/>
        </p:nvSpPr>
        <p:spPr>
          <a:xfrm>
            <a:off x="893617" y="1776256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dirty="0">
                <a:latin typeface="Comic Sans MS" panose="030F0702030302020204" pitchFamily="66" charset="0"/>
                <a:ea typeface="Times New Roman" panose="02020603050405020304" pitchFamily="18" charset="0"/>
              </a:rPr>
              <a:t>BANCO DE NIEBLA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893617" y="2595663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DISCO RAYADO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5813139" y="1889054"/>
            <a:ext cx="27787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PY" dirty="0">
                <a:latin typeface="Comic Sans MS" panose="030F0702030302020204" pitchFamily="66" charset="0"/>
                <a:ea typeface="Times New Roman" panose="02020603050405020304" pitchFamily="18" charset="0"/>
              </a:rPr>
              <a:t>-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“No lo parece.”</a:t>
            </a: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- “Sí me importa, y me gustaría saber más sobre cómo te sentís.”</a:t>
            </a:r>
          </a:p>
        </p:txBody>
      </p:sp>
      <p:cxnSp>
        <p:nvCxnSpPr>
          <p:cNvPr id="11" name="Conector angular 10"/>
          <p:cNvCxnSpPr>
            <a:endCxn id="9" idx="1"/>
          </p:cNvCxnSpPr>
          <p:nvPr/>
        </p:nvCxnSpPr>
        <p:spPr>
          <a:xfrm rot="5400000" flipH="1" flipV="1">
            <a:off x="5400865" y="2400083"/>
            <a:ext cx="477026" cy="34752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/>
        </p:nvSpPr>
        <p:spPr>
          <a:xfrm>
            <a:off x="893617" y="3577938"/>
            <a:ext cx="452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 INTERROGACIÓN NEGATIVA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893617" y="2084033"/>
            <a:ext cx="4525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“Es posible que no esté mostrando bien cuánto me importa.”</a:t>
            </a:r>
            <a:endParaRPr lang="es-MX" dirty="0"/>
          </a:p>
        </p:txBody>
      </p:sp>
      <p:sp>
        <p:nvSpPr>
          <p:cNvPr id="14" name="Rectángulo 13"/>
          <p:cNvSpPr/>
          <p:nvPr/>
        </p:nvSpPr>
        <p:spPr>
          <a:xfrm>
            <a:off x="893617" y="2898433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/>
              <a:t> 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“Sí me importa, y me gustaría saber más sobre cómo te sentís.”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893617" y="3903118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/>
              <a:t> 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“¿Sentís eso por algo que hice o he dejado de hacer? </a:t>
            </a: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¿Crees que no te he prestado suficiente atención?”</a:t>
            </a:r>
          </a:p>
        </p:txBody>
      </p:sp>
    </p:spTree>
    <p:extLst>
      <p:ext uri="{BB962C8B-B14F-4D97-AF65-F5344CB8AC3E}">
        <p14:creationId xmlns:p14="http://schemas.microsoft.com/office/powerpoint/2010/main" val="280934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0944" y="488372"/>
            <a:ext cx="8167256" cy="531802"/>
          </a:xfrm>
          <a:solidFill>
            <a:schemeClr val="accent1"/>
          </a:solidFill>
        </p:spPr>
        <p:txBody>
          <a:bodyPr/>
          <a:lstStyle/>
          <a:p>
            <a:pPr algn="l"/>
            <a:r>
              <a:rPr lang="es-MX" sz="18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Tu pareja te dice: “Parece que no te importa lo que me pasa.”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Google Shape;135;p29"/>
          <p:cNvSpPr/>
          <p:nvPr/>
        </p:nvSpPr>
        <p:spPr>
          <a:xfrm>
            <a:off x="5465618" y="4543039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8;p29"/>
          <p:cNvSpPr/>
          <p:nvPr/>
        </p:nvSpPr>
        <p:spPr>
          <a:xfrm>
            <a:off x="8725500" y="242777"/>
            <a:ext cx="418500" cy="26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CuadroTexto 12"/>
          <p:cNvSpPr txBox="1"/>
          <p:nvPr/>
        </p:nvSpPr>
        <p:spPr>
          <a:xfrm>
            <a:off x="685799" y="1240029"/>
            <a:ext cx="765906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“Parece que no te importa lo que me pasa.”</a:t>
            </a: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“¿Otra vez con eso? Siempre estás exagerando.”</a:t>
            </a: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“Claro, como nunca me </a:t>
            </a:r>
            <a:r>
              <a:rPr lang="es-MX" dirty="0" err="1">
                <a:latin typeface="Comic Sans MS" panose="030F0702030302020204" pitchFamily="66" charset="0"/>
                <a:ea typeface="Times New Roman" panose="02020603050405020304" pitchFamily="18" charset="0"/>
              </a:rPr>
              <a:t>escuchás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, me </a:t>
            </a:r>
            <a:r>
              <a:rPr lang="es-MX" dirty="0" err="1">
                <a:latin typeface="Comic Sans MS" panose="030F0702030302020204" pitchFamily="66" charset="0"/>
                <a:ea typeface="Times New Roman" panose="02020603050405020304" pitchFamily="18" charset="0"/>
              </a:rPr>
              <a:t>hacés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 sentir invisible.”</a:t>
            </a: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“¿Y qué </a:t>
            </a:r>
            <a:r>
              <a:rPr lang="es-MX" dirty="0" err="1">
                <a:latin typeface="Comic Sans MS" panose="030F0702030302020204" pitchFamily="66" charset="0"/>
                <a:ea typeface="Times New Roman" panose="02020603050405020304" pitchFamily="18" charset="0"/>
              </a:rPr>
              <a:t>querés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 que haga? No puedo estar pendiente de vos las 24 horas.”</a:t>
            </a: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“No, claro. Seguro </a:t>
            </a:r>
            <a:r>
              <a:rPr lang="es-MX" dirty="0" err="1">
                <a:latin typeface="Comic Sans MS" panose="030F0702030302020204" pitchFamily="66" charset="0"/>
                <a:ea typeface="Times New Roman" panose="02020603050405020304" pitchFamily="18" charset="0"/>
              </a:rPr>
              <a:t>tenés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 cosas más importantes, como mirar el celular todo el día.”</a:t>
            </a: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“¡Bueno, si tanto te molesto, ¿por qué no te vas un rato?!”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2367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0944" y="488372"/>
            <a:ext cx="8167256" cy="531802"/>
          </a:xfrm>
          <a:solidFill>
            <a:schemeClr val="accent1"/>
          </a:solidFill>
        </p:spPr>
        <p:txBody>
          <a:bodyPr/>
          <a:lstStyle/>
          <a:p>
            <a:pPr algn="l"/>
            <a:r>
              <a:rPr lang="es-MX" sz="1800" dirty="0">
                <a:solidFill>
                  <a:schemeClr val="tx1"/>
                </a:solidFill>
                <a:latin typeface="Comic Sans MS" panose="030F0702030302020204" pitchFamily="66" charset="0"/>
                <a:ea typeface="Times New Roman" panose="02020603050405020304" pitchFamily="18" charset="0"/>
              </a:rPr>
              <a:t>Tu pareja te dice: “Parece que no te importa lo que me pasa.”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Google Shape;135;p29"/>
          <p:cNvSpPr/>
          <p:nvPr/>
        </p:nvSpPr>
        <p:spPr>
          <a:xfrm>
            <a:off x="5465618" y="4543039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8;p29"/>
          <p:cNvSpPr/>
          <p:nvPr/>
        </p:nvSpPr>
        <p:spPr>
          <a:xfrm>
            <a:off x="8725500" y="242777"/>
            <a:ext cx="418500" cy="26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CuadroTexto 12"/>
          <p:cNvSpPr txBox="1"/>
          <p:nvPr/>
        </p:nvSpPr>
        <p:spPr>
          <a:xfrm>
            <a:off x="685800" y="1240029"/>
            <a:ext cx="760527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“Últimamente siento que estás un poco distante, y me está afectando. Me da la sensación de que no te importa lo que me pasa.” </a:t>
            </a:r>
            <a:r>
              <a:rPr lang="es-MX" b="1" dirty="0">
                <a:latin typeface="Comic Sans MS" panose="030F0702030302020204" pitchFamily="66" charset="0"/>
                <a:ea typeface="Times New Roman" panose="02020603050405020304" pitchFamily="18" charset="0"/>
              </a:rPr>
              <a:t>OPOSICIÓN ASERTIVA</a:t>
            </a:r>
            <a:endParaRPr lang="es-MX" dirty="0">
              <a:latin typeface="Comic Sans MS" panose="030F0702030302020204" pitchFamily="66" charset="0"/>
              <a:ea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“Gracias por decírmelo. No era mi intención hacerte sentir así. ¿</a:t>
            </a:r>
            <a:r>
              <a:rPr lang="es-MX" dirty="0" err="1">
                <a:latin typeface="Comic Sans MS" panose="030F0702030302020204" pitchFamily="66" charset="0"/>
                <a:ea typeface="Times New Roman" panose="02020603050405020304" pitchFamily="18" charset="0"/>
              </a:rPr>
              <a:t>Podés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 contarme qué te hizo sentir eso?” </a:t>
            </a:r>
            <a:r>
              <a:rPr lang="es-MX" b="1" dirty="0">
                <a:latin typeface="Comic Sans MS" panose="030F0702030302020204" pitchFamily="66" charset="0"/>
                <a:ea typeface="Times New Roman" panose="02020603050405020304" pitchFamily="18" charset="0"/>
              </a:rPr>
              <a:t>ACEPTACIÓN POSITIVA</a:t>
            </a:r>
            <a:endParaRPr lang="es-MX" dirty="0">
              <a:latin typeface="Comic Sans MS" panose="030F0702030302020204" pitchFamily="66" charset="0"/>
              <a:ea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“Ayer cuando te conté lo que pasó en el trabajo, cambiaste de tema. Me dolió porque necesitaba desahogarme.” </a:t>
            </a:r>
            <a:r>
              <a:rPr lang="es-MX" b="1" dirty="0">
                <a:latin typeface="Comic Sans MS" panose="030F0702030302020204" pitchFamily="66" charset="0"/>
                <a:ea typeface="Times New Roman" panose="02020603050405020304" pitchFamily="18" charset="0"/>
              </a:rPr>
              <a:t>OPOSICIÓN ASERTIVA</a:t>
            </a:r>
            <a:endParaRPr lang="es-MX" dirty="0">
              <a:latin typeface="Comic Sans MS" panose="030F0702030302020204" pitchFamily="66" charset="0"/>
              <a:ea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“Te entiendo. </a:t>
            </a:r>
            <a:r>
              <a:rPr lang="es-MX" dirty="0" err="1">
                <a:latin typeface="Comic Sans MS" panose="030F0702030302020204" pitchFamily="66" charset="0"/>
                <a:ea typeface="Times New Roman" panose="02020603050405020304" pitchFamily="18" charset="0"/>
              </a:rPr>
              <a:t>Tenés</a:t>
            </a: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 razón, no estuve atento y lo lamento. Estaba con la cabeza en otras cosas, pero quiero estar presente para vos.” </a:t>
            </a:r>
            <a:r>
              <a:rPr lang="es-MX" b="1" dirty="0">
                <a:latin typeface="Comic Sans MS" panose="030F0702030302020204" pitchFamily="66" charset="0"/>
                <a:ea typeface="Times New Roman" panose="02020603050405020304" pitchFamily="18" charset="0"/>
              </a:rPr>
              <a:t>ACEPTACIÓN ASERTIVA</a:t>
            </a:r>
            <a:endParaRPr lang="es-MX" dirty="0">
              <a:latin typeface="Comic Sans MS" panose="030F0702030302020204" pitchFamily="66" charset="0"/>
              <a:ea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“Gracias. Me hace bien que lo reconozcas. ¿Te parece si después de cenar hablamos tranquilos un rato?” </a:t>
            </a:r>
            <a:r>
              <a:rPr lang="es-MX" b="1" dirty="0">
                <a:latin typeface="Comic Sans MS" panose="030F0702030302020204" pitchFamily="66" charset="0"/>
                <a:ea typeface="Times New Roman" panose="02020603050405020304" pitchFamily="18" charset="0"/>
              </a:rPr>
              <a:t>ACEPTACIÓN ASERTIVA</a:t>
            </a:r>
            <a:endParaRPr lang="es-MX" dirty="0">
              <a:latin typeface="Comic Sans MS" panose="030F0702030302020204" pitchFamily="66" charset="0"/>
              <a:ea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s-MX" dirty="0">
                <a:latin typeface="Comic Sans MS" panose="030F0702030302020204" pitchFamily="66" charset="0"/>
                <a:ea typeface="Times New Roman" panose="02020603050405020304" pitchFamily="18" charset="0"/>
              </a:rPr>
              <a:t>— “Sí, me parece bien. Quiero que te sientas escuchada/o, y también me gustaría contarte cómo estuve yo estos días.” </a:t>
            </a:r>
            <a:r>
              <a:rPr lang="es-MX" b="1" dirty="0">
                <a:latin typeface="Comic Sans MS" panose="030F0702030302020204" pitchFamily="66" charset="0"/>
                <a:ea typeface="Times New Roman" panose="02020603050405020304" pitchFamily="18" charset="0"/>
              </a:rPr>
              <a:t>ACEPTACIÓN ASERTIVA</a:t>
            </a:r>
            <a:endParaRPr lang="es-MX" dirty="0">
              <a:latin typeface="Comic Sans MS" panose="030F0702030302020204" pitchFamily="66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1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7"/>
          <p:cNvSpPr/>
          <p:nvPr/>
        </p:nvSpPr>
        <p:spPr>
          <a:xfrm>
            <a:off x="0" y="2673800"/>
            <a:ext cx="5123100" cy="182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7"/>
          <p:cNvSpPr txBox="1">
            <a:spLocks noGrp="1"/>
          </p:cNvSpPr>
          <p:nvPr>
            <p:ph type="title"/>
          </p:nvPr>
        </p:nvSpPr>
        <p:spPr>
          <a:xfrm>
            <a:off x="685800" y="2561000"/>
            <a:ext cx="4931100" cy="20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 POR SU ATENCIÓN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ial Skills Learning by Slidesgo">
  <a:themeElements>
    <a:clrScheme name="Simple Light">
      <a:dk1>
        <a:srgbClr val="263238"/>
      </a:dk1>
      <a:lt1>
        <a:srgbClr val="FFFFFF"/>
      </a:lt1>
      <a:dk2>
        <a:srgbClr val="455A64"/>
      </a:dk2>
      <a:lt2>
        <a:srgbClr val="EEEEEE"/>
      </a:lt2>
      <a:accent1>
        <a:srgbClr val="FFC727"/>
      </a:accent1>
      <a:accent2>
        <a:srgbClr val="2C2945"/>
      </a:accent2>
      <a:accent3>
        <a:srgbClr val="AD6359"/>
      </a:accent3>
      <a:accent4>
        <a:srgbClr val="F7A9A0"/>
      </a:accent4>
      <a:accent5>
        <a:srgbClr val="EFEFEF"/>
      </a:accent5>
      <a:accent6>
        <a:srgbClr val="F3F3F3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5476</TotalTime>
  <Words>593</Words>
  <Application>Microsoft Office PowerPoint</Application>
  <PresentationFormat>On-screen Show (16:9)</PresentationFormat>
  <Paragraphs>47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Social Skills Learning by Slidesgo</vt:lpstr>
      <vt:lpstr>Ejercicios sobre técnicas asertivas</vt:lpstr>
      <vt:lpstr>Situación 1 Un amigo te insiste para ir a una fiesta y vos no querés ir: </vt:lpstr>
      <vt:lpstr>Un compañero te dice en tono sarcástico “Uy, qué raro en vos ser responsable.”: </vt:lpstr>
      <vt:lpstr>Tu pareja te dice: “Parece que no te importa lo que me pasa.”</vt:lpstr>
      <vt:lpstr>Tu pareja te dice: “Parece que no te importa lo que me pasa.”</vt:lpstr>
      <vt:lpstr>Tu pareja te dice: “Parece que no te importa lo que me pasa.”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asertividad</dc:title>
  <dc:creator>Monica Silva</dc:creator>
  <cp:lastModifiedBy>Lourdes Mariana Velilla Cabrera</cp:lastModifiedBy>
  <cp:revision>64</cp:revision>
  <dcterms:modified xsi:type="dcterms:W3CDTF">2025-06-24T14:06:21Z</dcterms:modified>
</cp:coreProperties>
</file>